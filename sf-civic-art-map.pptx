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777240" y="274320"/>
            <a:ext cx="7315200" cy="320040"/>
          </a:xfrm>
          <a:prstGeom prst="rect">
            <a:avLst/>
          </a:prstGeom>
          <a:noFill/>
        </p:spPr>
        <p:txBody>
          <a:bodyPr wrap="square" lIns="0" rIns="0" tIns="0" bIns="0" anchor="ctr">
            <a:spAutoFit/>
          </a:bodyPr>
          <a:lstStyle/>
          <a:p>
            <a:pPr algn="l"/>
            <a:r>
              <a:rPr sz="1100" b="1" i="0" spc="300">
                <a:solidFill>
                  <a:srgbClr val="0E1B36"/>
                </a:solidFill>
                <a:latin typeface="JetBrains Mono"/>
              </a:rPr>
              <a:t>SAN FRANCISCO · CIVIC ART MAP</a:t>
            </a:r>
          </a:p>
        </p:txBody>
      </p:sp>
      <p:sp>
        <p:nvSpPr>
          <p:cNvPr id="3" name="Rectangle 2"/>
          <p:cNvSpPr/>
          <p:nvPr/>
        </p:nvSpPr>
        <p:spPr>
          <a:xfrm>
            <a:off x="0" y="749808"/>
            <a:ext cx="12191695" cy="9525"/>
          </a:xfrm>
          <a:prstGeom prst="rect">
            <a:avLst/>
          </a:prstGeom>
          <a:solidFill>
            <a:srgbClr val="D6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25880"/>
            <a:ext cx="10637215" cy="292608"/>
          </a:xfrm>
          <a:prstGeom prst="rect">
            <a:avLst/>
          </a:prstGeom>
          <a:noFill/>
        </p:spPr>
        <p:txBody>
          <a:bodyPr wrap="square" lIns="0" rIns="0" tIns="0" bIns="0" anchor="t">
            <a:spAutoFit/>
          </a:bodyPr>
          <a:lstStyle/>
          <a:p>
            <a:pPr algn="l"/>
            <a:r>
              <a:rPr sz="1100" b="1" i="0" spc="350">
                <a:solidFill>
                  <a:srgbClr val="1F3D88"/>
                </a:solidFill>
                <a:latin typeface="JetBrains Mono"/>
              </a:rPr>
              <a:t>A PROPOSAL FOR ANDY AND DEBORAH RAPPAPORT</a:t>
            </a:r>
          </a:p>
        </p:txBody>
      </p:sp>
      <p:sp>
        <p:nvSpPr>
          <p:cNvPr id="5" name="TextBox 4"/>
          <p:cNvSpPr txBox="1"/>
          <p:nvPr/>
        </p:nvSpPr>
        <p:spPr>
          <a:xfrm>
            <a:off x="777240" y="1783080"/>
            <a:ext cx="10637215" cy="2926080"/>
          </a:xfrm>
          <a:prstGeom prst="rect">
            <a:avLst/>
          </a:prstGeom>
          <a:noFill/>
        </p:spPr>
        <p:txBody>
          <a:bodyPr wrap="square" lIns="0" rIns="0" tIns="0" bIns="0" anchor="t">
            <a:spAutoFit/>
          </a:bodyPr>
          <a:lstStyle/>
          <a:p>
            <a:pPr algn="l">
              <a:lnSpc>
                <a:spcPct val="106000"/>
              </a:lnSpc>
            </a:pPr>
            <a:r>
              <a:rPr sz="4800" b="0" i="0">
                <a:solidFill>
                  <a:srgbClr val="0E1B36"/>
                </a:solidFill>
                <a:latin typeface="Cormorant Garamond"/>
              </a:rPr>
              <a:t>A </a:t>
            </a:r>
            <a:r>
              <a:rPr sz="4800" b="0" i="1">
                <a:solidFill>
                  <a:srgbClr val="1F3D88"/>
                </a:solidFill>
                <a:latin typeface="Cormorant Garamond"/>
              </a:rPr>
              <a:t>civic art utility</a:t>
            </a:r>
            <a:r>
              <a:rPr sz="4800" b="0" i="0">
                <a:solidFill>
                  <a:srgbClr val="0E1B36"/>
                </a:solidFill>
                <a:latin typeface="Cormorant Garamond"/>
              </a:rPr>
              <a:t> for San Francisco—enriching, beautifully made, and built as a laboratory for the next generation of cultural infrastructure.</a:t>
            </a:r>
          </a:p>
        </p:txBody>
      </p:sp>
      <p:sp>
        <p:nvSpPr>
          <p:cNvPr id="6" name="TextBox 5"/>
          <p:cNvSpPr txBox="1"/>
          <p:nvPr/>
        </p:nvSpPr>
        <p:spPr>
          <a:xfrm>
            <a:off x="777240" y="4846320"/>
            <a:ext cx="10637215" cy="1188720"/>
          </a:xfrm>
          <a:prstGeom prst="rect">
            <a:avLst/>
          </a:prstGeom>
          <a:noFill/>
        </p:spPr>
        <p:txBody>
          <a:bodyPr wrap="square" lIns="0" rIns="0" tIns="0" bIns="0" anchor="t">
            <a:spAutoFit/>
          </a:bodyPr>
          <a:lstStyle/>
          <a:p>
            <a:pPr algn="l">
              <a:lnSpc>
                <a:spcPct val="142000"/>
              </a:lnSpc>
            </a:pPr>
            <a:r>
              <a:rPr sz="1500" b="0" i="0">
                <a:solidFill>
                  <a:srgbClr val="1C2638"/>
                </a:solidFill>
                <a:latin typeface="Inter"/>
              </a:rPr>
              <a:t>San Francisco has one of the greatest art ecosystems in the country and one of the hardest to navigate. The opportunity is a single, comprehensive cultural utility for the city—built with care, run in the public interest, and designed as a shared working environment for the people, institutions, and technologies that could make San Francisco the most rewarding place in the world to encounter art.</a:t>
            </a:r>
          </a:p>
        </p:txBody>
      </p:sp>
      <p:sp>
        <p:nvSpPr>
          <p:cNvPr id="7" name="TextBox 6"/>
          <p:cNvSpPr txBox="1"/>
          <p:nvPr/>
        </p:nvSpPr>
        <p:spPr>
          <a:xfrm>
            <a:off x="777240" y="6217920"/>
            <a:ext cx="10637215" cy="320040"/>
          </a:xfrm>
          <a:prstGeom prst="rect">
            <a:avLst/>
          </a:prstGeom>
          <a:noFill/>
        </p:spPr>
        <p:txBody>
          <a:bodyPr wrap="square" lIns="0" rIns="0" tIns="0" bIns="0" anchor="ctr">
            <a:spAutoFit/>
          </a:bodyPr>
          <a:lstStyle/>
          <a:p>
            <a:pPr algn="l"/>
            <a:r>
              <a:rPr sz="1000" b="0" i="0" spc="250">
                <a:solidFill>
                  <a:srgbClr val="5C6577"/>
                </a:solidFill>
                <a:latin typeface="JetBrains Mono"/>
              </a:rPr>
              <a:t>PREPARED BY </a:t>
            </a:r>
            <a:r>
              <a:rPr sz="1000" b="1" i="0" spc="250">
                <a:solidFill>
                  <a:srgbClr val="1F3D88"/>
                </a:solidFill>
                <a:latin typeface="JetBrains Mono"/>
              </a:rPr>
              <a:t>ANDREW GOLDSTEIN</a:t>
            </a:r>
            <a:r>
              <a:rPr sz="1000" b="0" i="0" spc="250">
                <a:solidFill>
                  <a:srgbClr val="5C6577"/>
                </a:solidFill>
                <a:latin typeface="JetBrains Mono"/>
              </a:rPr>
              <a:t> · DEDALUS MEDIA ARCHITECTS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777240" y="274320"/>
            <a:ext cx="7315200" cy="320040"/>
          </a:xfrm>
          <a:prstGeom prst="rect">
            <a:avLst/>
          </a:prstGeom>
          <a:noFill/>
        </p:spPr>
        <p:txBody>
          <a:bodyPr wrap="square" lIns="0" rIns="0" tIns="0" bIns="0" anchor="ctr">
            <a:spAutoFit/>
          </a:bodyPr>
          <a:lstStyle/>
          <a:p>
            <a:pPr algn="l"/>
            <a:r>
              <a:rPr sz="1100" b="1" i="0" spc="300">
                <a:solidFill>
                  <a:srgbClr val="0E1B36"/>
                </a:solidFill>
                <a:latin typeface="JetBrains Mono"/>
              </a:rPr>
              <a:t>SAN FRANCISCO · CIVIC ART MAP</a:t>
            </a:r>
          </a:p>
        </p:txBody>
      </p:sp>
      <p:sp>
        <p:nvSpPr>
          <p:cNvPr id="3" name="Rectangle 2"/>
          <p:cNvSpPr/>
          <p:nvPr/>
        </p:nvSpPr>
        <p:spPr>
          <a:xfrm>
            <a:off x="0" y="749808"/>
            <a:ext cx="12191695" cy="9525"/>
          </a:xfrm>
          <a:prstGeom prst="rect">
            <a:avLst/>
          </a:prstGeom>
          <a:solidFill>
            <a:srgbClr val="D6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97280"/>
            <a:ext cx="10637215" cy="1920240"/>
          </a:xfrm>
          <a:prstGeom prst="rect">
            <a:avLst/>
          </a:prstGeom>
          <a:noFill/>
        </p:spPr>
        <p:txBody>
          <a:bodyPr wrap="square" lIns="0" rIns="0" tIns="0" bIns="0" anchor="t">
            <a:spAutoFit/>
          </a:bodyPr>
          <a:lstStyle/>
          <a:p>
            <a:pPr algn="l">
              <a:spcAft>
                <a:spcPts val="1400"/>
              </a:spcAft>
            </a:pPr>
            <a:r>
              <a:rPr sz="1100" b="1" i="0" spc="240">
                <a:solidFill>
                  <a:srgbClr val="1F3D88"/>
                </a:solidFill>
                <a:latin typeface="JetBrains Mono"/>
              </a:rPr>
              <a:t>THE VISION</a:t>
            </a:r>
          </a:p>
          <a:p>
            <a:pPr algn="l">
              <a:lnSpc>
                <a:spcPct val="114000"/>
              </a:lnSpc>
            </a:pPr>
            <a:r>
              <a:rPr sz="3200" b="0" i="0">
                <a:solidFill>
                  <a:srgbClr val="0E1B36"/>
                </a:solidFill>
                <a:latin typeface="Cormorant Garamond"/>
              </a:rPr>
              <a:t>An art map for San Francisco that feels like the city itself—</a:t>
            </a:r>
            <a:r>
              <a:rPr sz="3200" b="0" i="1">
                <a:solidFill>
                  <a:srgbClr val="0E1B36"/>
                </a:solidFill>
                <a:latin typeface="Cormorant Garamond"/>
              </a:rPr>
              <a:t>inspiring, generous, delightful, and unafraid of beauty</a:t>
            </a:r>
            <a:r>
              <a:rPr sz="3200" b="0" i="0">
                <a:solidFill>
                  <a:srgbClr val="0E1B36"/>
                </a:solidFill>
                <a:latin typeface="Cormorant Garamond"/>
              </a:rPr>
              <a:t>.</a:t>
            </a:r>
          </a:p>
        </p:txBody>
      </p:sp>
      <p:sp>
        <p:nvSpPr>
          <p:cNvPr id="5" name="TextBox 4"/>
          <p:cNvSpPr txBox="1"/>
          <p:nvPr/>
        </p:nvSpPr>
        <p:spPr>
          <a:xfrm>
            <a:off x="777240" y="3291840"/>
            <a:ext cx="10637215" cy="2194560"/>
          </a:xfrm>
          <a:prstGeom prst="rect">
            <a:avLst/>
          </a:prstGeom>
          <a:noFill/>
        </p:spPr>
        <p:txBody>
          <a:bodyPr wrap="square" lIns="0" rIns="0" tIns="0" bIns="0" anchor="t">
            <a:spAutoFit/>
          </a:bodyPr>
          <a:lstStyle/>
          <a:p>
            <a:pPr algn="l">
              <a:lnSpc>
                <a:spcPct val="150000"/>
              </a:lnSpc>
            </a:pPr>
            <a:r>
              <a:rPr sz="1300" b="0" i="0">
                <a:solidFill>
                  <a:srgbClr val="1C2638"/>
                </a:solidFill>
                <a:latin typeface="Inter"/>
              </a:rPr>
              <a:t>For all the energy in the city's cultural life, there is no comprehensive way to find and engage with it. Museums, galleries, pop-ups, artist studios, public art, AR and digital-art activations all coexist, but none are legible to one another—let alone to the local audience or curious visitor.</a:t>
            </a:r>
          </a:p>
          <a:p>
            <a:pPr algn="l">
              <a:lnSpc>
                <a:spcPct val="150000"/>
              </a:lnSpc>
              <a:spcBef>
                <a:spcPts val="1000"/>
              </a:spcBef>
            </a:pPr>
            <a:r>
              <a:rPr sz="1300" b="0" i="0">
                <a:solidFill>
                  <a:srgbClr val="1C2638"/>
                </a:solidFill>
                <a:latin typeface="Inter"/>
              </a:rPr>
              <a:t>This is a market-design problem. The traditional venues—galleries, museums, nonprofits—are under structural pressure. Vital newcomers—digital artists, immersive venues, AI-native creators—are operating without an infrastructure. Critics who previously served as wayfinding mechanisms have either vanished or been fragmented across algorithmic channels.</a:t>
            </a:r>
          </a:p>
        </p:txBody>
      </p:sp>
      <p:sp>
        <p:nvSpPr>
          <p:cNvPr id="6" name="Rectangle 5"/>
          <p:cNvSpPr/>
          <p:nvPr/>
        </p:nvSpPr>
        <p:spPr>
          <a:xfrm>
            <a:off x="777240" y="5577840"/>
            <a:ext cx="82296" cy="868680"/>
          </a:xfrm>
          <a:prstGeom prst="rect">
            <a:avLst/>
          </a:prstGeom>
          <a:solidFill>
            <a:srgbClr val="1F3D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 y="5577840"/>
            <a:ext cx="10280599" cy="868680"/>
          </a:xfrm>
          <a:prstGeom prst="rect">
            <a:avLst/>
          </a:prstGeom>
          <a:noFill/>
        </p:spPr>
        <p:txBody>
          <a:bodyPr wrap="square" lIns="0" rIns="0" tIns="0" bIns="0" anchor="ctr">
            <a:spAutoFit/>
          </a:bodyPr>
          <a:lstStyle/>
          <a:p>
            <a:pPr algn="l">
              <a:lnSpc>
                <a:spcPct val="130000"/>
              </a:lnSpc>
            </a:pPr>
            <a:r>
              <a:rPr sz="2200" b="0" i="0">
                <a:solidFill>
                  <a:srgbClr val="0E1B36"/>
                </a:solidFill>
                <a:latin typeface="Cormorant Garamond"/>
              </a:rPr>
              <a:t>What's needed is not another platform that competes with these ecosystem participants, but a piece of civic infrastructure that connects them to one another and surfaces them to the audiences they need to thrive.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DF1F8"/>
        </a:solidFill>
        <a:effectLst/>
      </p:bgPr>
    </p:bg>
    <p:spTree>
      <p:nvGrpSpPr>
        <p:cNvPr id="1" name=""/>
        <p:cNvGrpSpPr/>
        <p:nvPr/>
      </p:nvGrpSpPr>
      <p:grpSpPr/>
      <p:sp>
        <p:nvSpPr>
          <p:cNvPr id="2" name="TextBox 1"/>
          <p:cNvSpPr txBox="1"/>
          <p:nvPr/>
        </p:nvSpPr>
        <p:spPr>
          <a:xfrm>
            <a:off x="777240" y="274320"/>
            <a:ext cx="7315200" cy="320040"/>
          </a:xfrm>
          <a:prstGeom prst="rect">
            <a:avLst/>
          </a:prstGeom>
          <a:noFill/>
        </p:spPr>
        <p:txBody>
          <a:bodyPr wrap="square" lIns="0" rIns="0" tIns="0" bIns="0" anchor="ctr">
            <a:spAutoFit/>
          </a:bodyPr>
          <a:lstStyle/>
          <a:p>
            <a:pPr algn="l"/>
            <a:r>
              <a:rPr sz="1100" b="1" i="0" spc="300">
                <a:solidFill>
                  <a:srgbClr val="0E1B36"/>
                </a:solidFill>
                <a:latin typeface="JetBrains Mono"/>
              </a:rPr>
              <a:t>SAN FRANCISCO · CIVIC ART MAP</a:t>
            </a:r>
          </a:p>
        </p:txBody>
      </p:sp>
      <p:sp>
        <p:nvSpPr>
          <p:cNvPr id="3" name="Rectangle 2"/>
          <p:cNvSpPr/>
          <p:nvPr/>
        </p:nvSpPr>
        <p:spPr>
          <a:xfrm>
            <a:off x="0" y="749808"/>
            <a:ext cx="12191695" cy="9525"/>
          </a:xfrm>
          <a:prstGeom prst="rect">
            <a:avLst/>
          </a:prstGeom>
          <a:solidFill>
            <a:srgbClr val="D6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97280"/>
            <a:ext cx="10637215" cy="1645920"/>
          </a:xfrm>
          <a:prstGeom prst="rect">
            <a:avLst/>
          </a:prstGeom>
          <a:noFill/>
        </p:spPr>
        <p:txBody>
          <a:bodyPr wrap="square" lIns="0" rIns="0" tIns="0" bIns="0" anchor="t">
            <a:spAutoFit/>
          </a:bodyPr>
          <a:lstStyle/>
          <a:p>
            <a:pPr algn="l">
              <a:spcAft>
                <a:spcPts val="1400"/>
              </a:spcAft>
            </a:pPr>
            <a:r>
              <a:rPr sz="1100" b="1" i="0" spc="240">
                <a:solidFill>
                  <a:srgbClr val="1F3D88"/>
                </a:solidFill>
                <a:latin typeface="JetBrains Mono"/>
              </a:rPr>
              <a:t>THREE COMMITMENTS SHAPE IT</a:t>
            </a:r>
          </a:p>
          <a:p>
            <a:pPr algn="l">
              <a:spcAft>
                <a:spcPts val="1400"/>
              </a:spcAft>
            </a:pPr>
            <a:r>
              <a:rPr sz="3200" b="0" i="0">
                <a:solidFill>
                  <a:srgbClr val="0E1B36"/>
                </a:solidFill>
                <a:latin typeface="Cormorant Garamond"/>
              </a:rPr>
              <a:t>A new category of cultural utility, designed by what it refuses to be.</a:t>
            </a:r>
          </a:p>
        </p:txBody>
      </p:sp>
      <p:sp>
        <p:nvSpPr>
          <p:cNvPr id="5" name="TextBox 4"/>
          <p:cNvSpPr txBox="1"/>
          <p:nvPr/>
        </p:nvSpPr>
        <p:spPr>
          <a:xfrm>
            <a:off x="777240" y="3154680"/>
            <a:ext cx="3291840" cy="1143000"/>
          </a:xfrm>
          <a:prstGeom prst="rect">
            <a:avLst/>
          </a:prstGeom>
          <a:noFill/>
        </p:spPr>
        <p:txBody>
          <a:bodyPr wrap="square" lIns="0" rIns="0" tIns="0" bIns="0" anchor="t">
            <a:spAutoFit/>
          </a:bodyPr>
          <a:lstStyle/>
          <a:p>
            <a:pPr algn="l">
              <a:lnSpc>
                <a:spcPct val="118000"/>
              </a:lnSpc>
            </a:pPr>
            <a:r>
              <a:rPr sz="2200" b="0" i="1">
                <a:solidFill>
                  <a:srgbClr val="1F3D88"/>
                </a:solidFill>
                <a:latin typeface="Cormorant Garamond"/>
              </a:rPr>
              <a:t>Civic, not commercial.</a:t>
            </a:r>
          </a:p>
        </p:txBody>
      </p:sp>
      <p:sp>
        <p:nvSpPr>
          <p:cNvPr id="6" name="TextBox 5"/>
          <p:cNvSpPr txBox="1"/>
          <p:nvPr/>
        </p:nvSpPr>
        <p:spPr>
          <a:xfrm>
            <a:off x="4526280" y="3154680"/>
            <a:ext cx="6888175" cy="1143000"/>
          </a:xfrm>
          <a:prstGeom prst="rect">
            <a:avLst/>
          </a:prstGeom>
          <a:noFill/>
        </p:spPr>
        <p:txBody>
          <a:bodyPr wrap="square" lIns="0" rIns="0" tIns="0" bIns="0" anchor="t">
            <a:spAutoFit/>
          </a:bodyPr>
          <a:lstStyle/>
          <a:p>
            <a:pPr algn="l">
              <a:lnSpc>
                <a:spcPct val="145000"/>
              </a:lnSpc>
            </a:pPr>
            <a:r>
              <a:rPr sz="1300" b="0" i="0">
                <a:solidFill>
                  <a:srgbClr val="1C2638"/>
                </a:solidFill>
                <a:latin typeface="Inter"/>
              </a:rPr>
              <a:t>Operated in the public interest, with editorial independence and a sustaining model that doesn't depend on extracting value from artists or galleries. It complements—never competes with—the institutions whose work it surfaces.</a:t>
            </a:r>
          </a:p>
        </p:txBody>
      </p:sp>
      <p:sp>
        <p:nvSpPr>
          <p:cNvPr id="7" name="Rectangle 6"/>
          <p:cNvSpPr/>
          <p:nvPr/>
        </p:nvSpPr>
        <p:spPr>
          <a:xfrm>
            <a:off x="777240" y="4206240"/>
            <a:ext cx="10637215" cy="9525"/>
          </a:xfrm>
          <a:prstGeom prst="rect">
            <a:avLst/>
          </a:prstGeom>
          <a:solidFill>
            <a:srgbClr val="D6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297680"/>
            <a:ext cx="3291840" cy="1143000"/>
          </a:xfrm>
          <a:prstGeom prst="rect">
            <a:avLst/>
          </a:prstGeom>
          <a:noFill/>
        </p:spPr>
        <p:txBody>
          <a:bodyPr wrap="square" lIns="0" rIns="0" tIns="0" bIns="0" anchor="t">
            <a:spAutoFit/>
          </a:bodyPr>
          <a:lstStyle/>
          <a:p>
            <a:pPr algn="l">
              <a:lnSpc>
                <a:spcPct val="118000"/>
              </a:lnSpc>
            </a:pPr>
            <a:r>
              <a:rPr sz="2200" b="0" i="1">
                <a:solidFill>
                  <a:srgbClr val="1F3D88"/>
                </a:solidFill>
                <a:latin typeface="Cormorant Garamond"/>
              </a:rPr>
              <a:t>Beautifully made, not merely functional.</a:t>
            </a:r>
          </a:p>
        </p:txBody>
      </p:sp>
      <p:sp>
        <p:nvSpPr>
          <p:cNvPr id="9" name="TextBox 8"/>
          <p:cNvSpPr txBox="1"/>
          <p:nvPr/>
        </p:nvSpPr>
        <p:spPr>
          <a:xfrm>
            <a:off x="4526280" y="4297680"/>
            <a:ext cx="6888175" cy="1143000"/>
          </a:xfrm>
          <a:prstGeom prst="rect">
            <a:avLst/>
          </a:prstGeom>
          <a:noFill/>
        </p:spPr>
        <p:txBody>
          <a:bodyPr wrap="square" lIns="0" rIns="0" tIns="0" bIns="0" anchor="t">
            <a:spAutoFit/>
          </a:bodyPr>
          <a:lstStyle/>
          <a:p>
            <a:pPr algn="l">
              <a:lnSpc>
                <a:spcPct val="145000"/>
              </a:lnSpc>
            </a:pPr>
            <a:r>
              <a:rPr sz="1300" b="0" i="0">
                <a:solidFill>
                  <a:srgbClr val="1C2638"/>
                </a:solidFill>
                <a:latin typeface="Inter"/>
              </a:rPr>
              <a:t>The interface holds itself to a standard usually reserved for cultural institutions: the care of a national-park map, the warmth of a hospitable host, the clarity of a great editorial product. San Francisco deserves nothing less than the most thoughtfully designed cultural utility any American city has built.</a:t>
            </a:r>
          </a:p>
        </p:txBody>
      </p:sp>
      <p:sp>
        <p:nvSpPr>
          <p:cNvPr id="10" name="Rectangle 9"/>
          <p:cNvSpPr/>
          <p:nvPr/>
        </p:nvSpPr>
        <p:spPr>
          <a:xfrm>
            <a:off x="777240" y="5349240"/>
            <a:ext cx="10637215" cy="9525"/>
          </a:xfrm>
          <a:prstGeom prst="rect">
            <a:avLst/>
          </a:prstGeom>
          <a:solidFill>
            <a:srgbClr val="D6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440680"/>
            <a:ext cx="3291840" cy="1143000"/>
          </a:xfrm>
          <a:prstGeom prst="rect">
            <a:avLst/>
          </a:prstGeom>
          <a:noFill/>
        </p:spPr>
        <p:txBody>
          <a:bodyPr wrap="square" lIns="0" rIns="0" tIns="0" bIns="0" anchor="t">
            <a:spAutoFit/>
          </a:bodyPr>
          <a:lstStyle/>
          <a:p>
            <a:pPr algn="l">
              <a:lnSpc>
                <a:spcPct val="118000"/>
              </a:lnSpc>
            </a:pPr>
            <a:r>
              <a:rPr sz="2200" b="0" i="1">
                <a:solidFill>
                  <a:srgbClr val="1F3D88"/>
                </a:solidFill>
                <a:latin typeface="Cormorant Garamond"/>
              </a:rPr>
              <a:t>A laboratory, not a finished product.</a:t>
            </a:r>
          </a:p>
        </p:txBody>
      </p:sp>
      <p:sp>
        <p:nvSpPr>
          <p:cNvPr id="12" name="TextBox 11"/>
          <p:cNvSpPr txBox="1"/>
          <p:nvPr/>
        </p:nvSpPr>
        <p:spPr>
          <a:xfrm>
            <a:off x="4526280" y="5440680"/>
            <a:ext cx="6888175" cy="1143000"/>
          </a:xfrm>
          <a:prstGeom prst="rect">
            <a:avLst/>
          </a:prstGeom>
          <a:noFill/>
        </p:spPr>
        <p:txBody>
          <a:bodyPr wrap="square" lIns="0" rIns="0" tIns="0" bIns="0" anchor="t">
            <a:spAutoFit/>
          </a:bodyPr>
          <a:lstStyle/>
          <a:p>
            <a:pPr algn="l">
              <a:lnSpc>
                <a:spcPct val="145000"/>
              </a:lnSpc>
            </a:pPr>
            <a:r>
              <a:rPr sz="1300" b="0" i="0">
                <a:solidFill>
                  <a:srgbClr val="1C2638"/>
                </a:solidFill>
                <a:latin typeface="Inter"/>
              </a:rPr>
              <a:t>A working environment where the next generation of interpretive technologies—AI-led understanding, spatial audio, AR overlays, autonomous-vehicle cultural routing—can be deployed, tested, and refined in real public use, with the active participation of the companies that are building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777240" y="274320"/>
            <a:ext cx="7315200" cy="320040"/>
          </a:xfrm>
          <a:prstGeom prst="rect">
            <a:avLst/>
          </a:prstGeom>
          <a:noFill/>
        </p:spPr>
        <p:txBody>
          <a:bodyPr wrap="square" lIns="0" rIns="0" tIns="0" bIns="0" anchor="ctr">
            <a:spAutoFit/>
          </a:bodyPr>
          <a:lstStyle/>
          <a:p>
            <a:pPr algn="l"/>
            <a:r>
              <a:rPr sz="1100" b="1" i="0" spc="300">
                <a:solidFill>
                  <a:srgbClr val="0E1B36"/>
                </a:solidFill>
                <a:latin typeface="JetBrains Mono"/>
              </a:rPr>
              <a:t>SAN FRANCISCO · CIVIC ART MAP</a:t>
            </a:r>
          </a:p>
        </p:txBody>
      </p:sp>
      <p:sp>
        <p:nvSpPr>
          <p:cNvPr id="3" name="Rectangle 2"/>
          <p:cNvSpPr/>
          <p:nvPr/>
        </p:nvSpPr>
        <p:spPr>
          <a:xfrm>
            <a:off x="0" y="749808"/>
            <a:ext cx="12191695" cy="9525"/>
          </a:xfrm>
          <a:prstGeom prst="rect">
            <a:avLst/>
          </a:prstGeom>
          <a:solidFill>
            <a:srgbClr val="D6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97280"/>
            <a:ext cx="10637215" cy="1645920"/>
          </a:xfrm>
          <a:prstGeom prst="rect">
            <a:avLst/>
          </a:prstGeom>
          <a:noFill/>
        </p:spPr>
        <p:txBody>
          <a:bodyPr wrap="square" lIns="0" rIns="0" tIns="0" bIns="0" anchor="t">
            <a:spAutoFit/>
          </a:bodyPr>
          <a:lstStyle/>
          <a:p>
            <a:pPr algn="l">
              <a:spcAft>
                <a:spcPts val="1400"/>
              </a:spcAft>
            </a:pPr>
            <a:r>
              <a:rPr sz="1100" b="1" i="0" spc="240">
                <a:solidFill>
                  <a:srgbClr val="1F3D88"/>
                </a:solidFill>
                <a:latin typeface="JetBrains Mono"/>
              </a:rPr>
              <a:t>WHY NOW</a:t>
            </a:r>
          </a:p>
          <a:p>
            <a:pPr algn="l">
              <a:spcAft>
                <a:spcPts val="1400"/>
              </a:spcAft>
            </a:pPr>
            <a:r>
              <a:rPr sz="3200" b="0" i="0">
                <a:solidFill>
                  <a:srgbClr val="0E1B36"/>
                </a:solidFill>
                <a:latin typeface="Cormorant Garamond"/>
              </a:rPr>
              <a:t>Three currents are converging on this exact problem at this exact moment.</a:t>
            </a:r>
          </a:p>
        </p:txBody>
      </p:sp>
      <p:sp>
        <p:nvSpPr>
          <p:cNvPr id="5" name="Rectangle 4"/>
          <p:cNvSpPr/>
          <p:nvPr/>
        </p:nvSpPr>
        <p:spPr>
          <a:xfrm>
            <a:off x="777240" y="3154680"/>
            <a:ext cx="3301898" cy="31750"/>
          </a:xfrm>
          <a:prstGeom prst="rect">
            <a:avLst/>
          </a:prstGeom>
          <a:solidFill>
            <a:srgbClr val="1F3D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282696"/>
            <a:ext cx="3301898" cy="3200400"/>
          </a:xfrm>
          <a:prstGeom prst="rect">
            <a:avLst/>
          </a:prstGeom>
          <a:noFill/>
        </p:spPr>
        <p:txBody>
          <a:bodyPr wrap="square" lIns="0" rIns="0" tIns="0" bIns="0" anchor="t">
            <a:spAutoFit/>
          </a:bodyPr>
          <a:lstStyle/>
          <a:p>
            <a:pPr algn="l">
              <a:lnSpc>
                <a:spcPct val="115000"/>
              </a:lnSpc>
              <a:spcAft>
                <a:spcPts val="1100"/>
              </a:spcAft>
            </a:pPr>
            <a:r>
              <a:rPr sz="2400" b="0" i="0">
                <a:solidFill>
                  <a:srgbClr val="0E1B36"/>
                </a:solidFill>
                <a:latin typeface="Cormorant Garamond"/>
              </a:rPr>
              <a:t>The cultural moment</a:t>
            </a:r>
          </a:p>
          <a:p>
            <a:pPr algn="l">
              <a:lnSpc>
                <a:spcPct val="142000"/>
              </a:lnSpc>
              <a:spcAft>
                <a:spcPts val="800"/>
              </a:spcAft>
            </a:pPr>
            <a:r>
              <a:rPr sz="1200" b="1" i="0">
                <a:solidFill>
                  <a:srgbClr val="1F3D88"/>
                </a:solidFill>
                <a:latin typeface="Inter"/>
              </a:rPr>
              <a:t>•  </a:t>
            </a:r>
            <a:r>
              <a:rPr sz="1200" b="0" i="0">
                <a:solidFill>
                  <a:srgbClr val="1C2638"/>
                </a:solidFill>
                <a:latin typeface="Inter"/>
              </a:rPr>
              <a:t>San Francisco's gallery and institutional ecosystem has been reshaped by a decade of rent pressure, the long tail of the pandemic, and the recent transitions at SFAI, ICA SF, and elsewhere.</a:t>
            </a:r>
          </a:p>
          <a:p>
            <a:pPr algn="l">
              <a:lnSpc>
                <a:spcPct val="142000"/>
              </a:lnSpc>
              <a:spcAft>
                <a:spcPts val="800"/>
              </a:spcAft>
            </a:pPr>
            <a:r>
              <a:rPr sz="1200" b="1" i="0">
                <a:solidFill>
                  <a:srgbClr val="1F3D88"/>
                </a:solidFill>
                <a:latin typeface="Inter"/>
              </a:rPr>
              <a:t>•  </a:t>
            </a:r>
            <a:r>
              <a:rPr sz="1200" b="0" i="0">
                <a:solidFill>
                  <a:srgbClr val="1C2638"/>
                </a:solidFill>
                <a:latin typeface="Inter"/>
              </a:rPr>
              <a:t>The institutions that remain are working harder than ever to reach audiences while operating in relative isolation from one another.</a:t>
            </a:r>
          </a:p>
          <a:p>
            <a:pPr algn="l">
              <a:lnSpc>
                <a:spcPct val="142000"/>
              </a:lnSpc>
              <a:spcAft>
                <a:spcPts val="800"/>
              </a:spcAft>
            </a:pPr>
            <a:r>
              <a:rPr sz="1200" b="1" i="0">
                <a:solidFill>
                  <a:srgbClr val="1F3D88"/>
                </a:solidFill>
                <a:latin typeface="Inter"/>
              </a:rPr>
              <a:t>•  </a:t>
            </a:r>
            <a:r>
              <a:rPr sz="1200" b="0" i="0">
                <a:solidFill>
                  <a:srgbClr val="1C2638"/>
                </a:solidFill>
                <a:latin typeface="Inter"/>
              </a:rPr>
              <a:t>The city's cultural map is fragmenting at exactly the moment when Mayor Lurie has made cultural revitalization a stated priority.</a:t>
            </a:r>
          </a:p>
        </p:txBody>
      </p:sp>
      <p:sp>
        <p:nvSpPr>
          <p:cNvPr id="7" name="Rectangle 6"/>
          <p:cNvSpPr/>
          <p:nvPr/>
        </p:nvSpPr>
        <p:spPr>
          <a:xfrm>
            <a:off x="4444898" y="3154680"/>
            <a:ext cx="3301898" cy="31750"/>
          </a:xfrm>
          <a:prstGeom prst="rect">
            <a:avLst/>
          </a:prstGeom>
          <a:solidFill>
            <a:srgbClr val="1F3D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44898" y="3282696"/>
            <a:ext cx="3301898" cy="3200400"/>
          </a:xfrm>
          <a:prstGeom prst="rect">
            <a:avLst/>
          </a:prstGeom>
          <a:noFill/>
        </p:spPr>
        <p:txBody>
          <a:bodyPr wrap="square" lIns="0" rIns="0" tIns="0" bIns="0" anchor="t">
            <a:spAutoFit/>
          </a:bodyPr>
          <a:lstStyle/>
          <a:p>
            <a:pPr algn="l">
              <a:lnSpc>
                <a:spcPct val="115000"/>
              </a:lnSpc>
              <a:spcAft>
                <a:spcPts val="1100"/>
              </a:spcAft>
            </a:pPr>
            <a:r>
              <a:rPr sz="2400" b="0" i="0">
                <a:solidFill>
                  <a:srgbClr val="0E1B36"/>
                </a:solidFill>
                <a:latin typeface="Cormorant Garamond"/>
              </a:rPr>
              <a:t>The technology moment</a:t>
            </a:r>
          </a:p>
          <a:p>
            <a:pPr algn="l">
              <a:lnSpc>
                <a:spcPct val="142000"/>
              </a:lnSpc>
              <a:spcAft>
                <a:spcPts val="800"/>
              </a:spcAft>
            </a:pPr>
            <a:r>
              <a:rPr sz="1200" b="1" i="0">
                <a:solidFill>
                  <a:srgbClr val="1F3D88"/>
                </a:solidFill>
                <a:latin typeface="Inter"/>
              </a:rPr>
              <a:t>•  </a:t>
            </a:r>
            <a:r>
              <a:rPr sz="1200" b="0" i="0">
                <a:solidFill>
                  <a:srgbClr val="1C2638"/>
                </a:solidFill>
                <a:latin typeface="Inter"/>
              </a:rPr>
              <a:t>For the first time, the technology to actually unlock the art experience exists. AI can read a wall label, a press release, an artist's Q&amp;A, and a curator's catalogue together—and offer the visitor a personalized way in.</a:t>
            </a:r>
          </a:p>
          <a:p>
            <a:pPr algn="l">
              <a:lnSpc>
                <a:spcPct val="142000"/>
              </a:lnSpc>
              <a:spcAft>
                <a:spcPts val="800"/>
              </a:spcAft>
            </a:pPr>
            <a:r>
              <a:rPr sz="1200" b="1" i="0">
                <a:solidFill>
                  <a:srgbClr val="1F3D88"/>
                </a:solidFill>
                <a:latin typeface="Inter"/>
              </a:rPr>
              <a:t>•  </a:t>
            </a:r>
            <a:r>
              <a:rPr sz="1200" b="0" i="0">
                <a:solidFill>
                  <a:srgbClr val="1C2638"/>
                </a:solidFill>
                <a:latin typeface="Inter"/>
              </a:rPr>
              <a:t>AR glasses and spatial-audio earbuds are about to make on-site interpretation effortless. Autonomous vehicles will reshape how visitors move through the city.</a:t>
            </a:r>
          </a:p>
          <a:p>
            <a:pPr algn="l">
              <a:lnSpc>
                <a:spcPct val="142000"/>
              </a:lnSpc>
              <a:spcAft>
                <a:spcPts val="800"/>
              </a:spcAft>
            </a:pPr>
            <a:r>
              <a:rPr sz="1200" b="1" i="0">
                <a:solidFill>
                  <a:srgbClr val="1F3D88"/>
                </a:solidFill>
                <a:latin typeface="Inter"/>
              </a:rPr>
              <a:t>•  </a:t>
            </a:r>
            <a:r>
              <a:rPr sz="1200" b="0" i="0">
                <a:solidFill>
                  <a:srgbClr val="1C2638"/>
                </a:solidFill>
                <a:latin typeface="Inter"/>
              </a:rPr>
              <a:t>The next twenty-four months are when these capabilities go from emerging to ambient, and the city that builds the showcase first will set the template.</a:t>
            </a:r>
          </a:p>
        </p:txBody>
      </p:sp>
      <p:sp>
        <p:nvSpPr>
          <p:cNvPr id="9" name="Rectangle 8"/>
          <p:cNvSpPr/>
          <p:nvPr/>
        </p:nvSpPr>
        <p:spPr>
          <a:xfrm>
            <a:off x="8112556" y="3154680"/>
            <a:ext cx="3301898" cy="31750"/>
          </a:xfrm>
          <a:prstGeom prst="rect">
            <a:avLst/>
          </a:prstGeom>
          <a:solidFill>
            <a:srgbClr val="1F3D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12556" y="3282696"/>
            <a:ext cx="3301898" cy="3200400"/>
          </a:xfrm>
          <a:prstGeom prst="rect">
            <a:avLst/>
          </a:prstGeom>
          <a:noFill/>
        </p:spPr>
        <p:txBody>
          <a:bodyPr wrap="square" lIns="0" rIns="0" tIns="0" bIns="0" anchor="t">
            <a:spAutoFit/>
          </a:bodyPr>
          <a:lstStyle/>
          <a:p>
            <a:pPr algn="l">
              <a:lnSpc>
                <a:spcPct val="115000"/>
              </a:lnSpc>
              <a:spcAft>
                <a:spcPts val="1100"/>
              </a:spcAft>
            </a:pPr>
            <a:r>
              <a:rPr sz="2400" b="0" i="0">
                <a:solidFill>
                  <a:srgbClr val="0E1B36"/>
                </a:solidFill>
                <a:latin typeface="Cormorant Garamond"/>
              </a:rPr>
              <a:t>The civic moment</a:t>
            </a:r>
          </a:p>
          <a:p>
            <a:pPr algn="l">
              <a:lnSpc>
                <a:spcPct val="142000"/>
              </a:lnSpc>
              <a:spcAft>
                <a:spcPts val="800"/>
              </a:spcAft>
            </a:pPr>
            <a:r>
              <a:rPr sz="1200" b="1" i="0">
                <a:solidFill>
                  <a:srgbClr val="1F3D88"/>
                </a:solidFill>
                <a:latin typeface="Inter"/>
              </a:rPr>
              <a:t>•  </a:t>
            </a:r>
            <a:r>
              <a:rPr sz="1200" b="0" i="0">
                <a:solidFill>
                  <a:srgbClr val="1C2638"/>
                </a:solidFill>
                <a:latin typeface="Inter"/>
              </a:rPr>
              <a:t>San Francisco's tech leadership is under pressure to make the city a place worth living in—not just as philanthropy, but because the quality of civic life is foundational to attracting and keeping top talent.</a:t>
            </a:r>
          </a:p>
          <a:p>
            <a:pPr algn="l">
              <a:lnSpc>
                <a:spcPct val="142000"/>
              </a:lnSpc>
              <a:spcAft>
                <a:spcPts val="800"/>
              </a:spcAft>
            </a:pPr>
            <a:r>
              <a:rPr sz="1200" b="1" i="0">
                <a:solidFill>
                  <a:srgbClr val="1F3D88"/>
                </a:solidFill>
                <a:latin typeface="Inter"/>
              </a:rPr>
              <a:t>•  </a:t>
            </a:r>
            <a:r>
              <a:rPr sz="1200" b="0" i="0">
                <a:solidFill>
                  <a:srgbClr val="1C2638"/>
                </a:solidFill>
                <a:latin typeface="Inter"/>
              </a:rPr>
              <a:t>Voices like Patrick Collison's call for new aesthetics and Packy McCormick's appeal for modern magnificenza signal a hunger across the tech community for positive, generous expressions of the technological age.</a:t>
            </a:r>
          </a:p>
          <a:p>
            <a:pPr algn="l">
              <a:lnSpc>
                <a:spcPct val="142000"/>
              </a:lnSpc>
              <a:spcAft>
                <a:spcPts val="800"/>
              </a:spcAft>
            </a:pPr>
            <a:r>
              <a:rPr sz="1200" b="1" i="0">
                <a:solidFill>
                  <a:srgbClr val="1F3D88"/>
                </a:solidFill>
                <a:latin typeface="Inter"/>
              </a:rPr>
              <a:t>•  </a:t>
            </a:r>
            <a:r>
              <a:rPr sz="1200" b="0" i="0">
                <a:solidFill>
                  <a:srgbClr val="1C2638"/>
                </a:solidFill>
                <a:latin typeface="Inter"/>
              </a:rPr>
              <a:t>The right civic initiative, designed with discipline, can convene that goodwill into something durable, useful, and a credit to everyone involved.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DF1F8"/>
        </a:solidFill>
        <a:effectLst/>
      </p:bgPr>
    </p:bg>
    <p:spTree>
      <p:nvGrpSpPr>
        <p:cNvPr id="1" name=""/>
        <p:cNvGrpSpPr/>
        <p:nvPr/>
      </p:nvGrpSpPr>
      <p:grpSpPr/>
      <p:sp>
        <p:nvSpPr>
          <p:cNvPr id="2" name="TextBox 1"/>
          <p:cNvSpPr txBox="1"/>
          <p:nvPr/>
        </p:nvSpPr>
        <p:spPr>
          <a:xfrm>
            <a:off x="777240" y="274320"/>
            <a:ext cx="7315200" cy="320040"/>
          </a:xfrm>
          <a:prstGeom prst="rect">
            <a:avLst/>
          </a:prstGeom>
          <a:noFill/>
        </p:spPr>
        <p:txBody>
          <a:bodyPr wrap="square" lIns="0" rIns="0" tIns="0" bIns="0" anchor="ctr">
            <a:spAutoFit/>
          </a:bodyPr>
          <a:lstStyle/>
          <a:p>
            <a:pPr algn="l"/>
            <a:r>
              <a:rPr sz="1100" b="1" i="0" spc="300">
                <a:solidFill>
                  <a:srgbClr val="0E1B36"/>
                </a:solidFill>
                <a:latin typeface="JetBrains Mono"/>
              </a:rPr>
              <a:t>SAN FRANCISCO · CIVIC ART MAP</a:t>
            </a:r>
          </a:p>
        </p:txBody>
      </p:sp>
      <p:sp>
        <p:nvSpPr>
          <p:cNvPr id="3" name="Rectangle 2"/>
          <p:cNvSpPr/>
          <p:nvPr/>
        </p:nvSpPr>
        <p:spPr>
          <a:xfrm>
            <a:off x="0" y="749808"/>
            <a:ext cx="12191695" cy="9525"/>
          </a:xfrm>
          <a:prstGeom prst="rect">
            <a:avLst/>
          </a:prstGeom>
          <a:solidFill>
            <a:srgbClr val="D6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97280"/>
            <a:ext cx="10637215" cy="1645920"/>
          </a:xfrm>
          <a:prstGeom prst="rect">
            <a:avLst/>
          </a:prstGeom>
          <a:noFill/>
        </p:spPr>
        <p:txBody>
          <a:bodyPr wrap="square" lIns="0" rIns="0" tIns="0" bIns="0" anchor="t">
            <a:spAutoFit/>
          </a:bodyPr>
          <a:lstStyle/>
          <a:p>
            <a:pPr algn="l">
              <a:spcAft>
                <a:spcPts val="1400"/>
              </a:spcAft>
            </a:pPr>
            <a:r>
              <a:rPr sz="1100" b="1" i="0" spc="240">
                <a:solidFill>
                  <a:srgbClr val="1F3D88"/>
                </a:solidFill>
                <a:latin typeface="JetBrains Mono"/>
              </a:rPr>
              <a:t>WHO IT'S FOR</a:t>
            </a:r>
          </a:p>
          <a:p>
            <a:pPr algn="l">
              <a:spcAft>
                <a:spcPts val="1400"/>
              </a:spcAft>
            </a:pPr>
            <a:r>
              <a:rPr sz="3200" b="0" i="0">
                <a:solidFill>
                  <a:srgbClr val="0E1B36"/>
                </a:solidFill>
                <a:latin typeface="Cormorant Garamond"/>
              </a:rPr>
              <a:t>The map serves the full population of people who want to encounter art in San Francisco—as well as those who don't know they want to yet.</a:t>
            </a:r>
          </a:p>
        </p:txBody>
      </p:sp>
      <p:sp>
        <p:nvSpPr>
          <p:cNvPr id="5" name="Rectangle 4"/>
          <p:cNvSpPr/>
          <p:nvPr/>
        </p:nvSpPr>
        <p:spPr>
          <a:xfrm>
            <a:off x="777240" y="3246120"/>
            <a:ext cx="3411626" cy="1600200"/>
          </a:xfrm>
          <a:prstGeom prst="rect">
            <a:avLst/>
          </a:prstGeom>
          <a:solidFill>
            <a:srgbClr val="FBF8F2"/>
          </a:solidFill>
          <a:ln w="9525">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3392424"/>
            <a:ext cx="3045866" cy="1307592"/>
          </a:xfrm>
          <a:prstGeom prst="rect">
            <a:avLst/>
          </a:prstGeom>
          <a:noFill/>
        </p:spPr>
        <p:txBody>
          <a:bodyPr wrap="square" lIns="0" rIns="0" tIns="0" bIns="0" anchor="t">
            <a:spAutoFit/>
          </a:bodyPr>
          <a:lstStyle/>
          <a:p>
            <a:pPr algn="l">
              <a:spcAft>
                <a:spcPts val="400"/>
              </a:spcAft>
            </a:pPr>
            <a:r>
              <a:rPr sz="900" b="1" i="0" spc="200">
                <a:solidFill>
                  <a:srgbClr val="1F3D88"/>
                </a:solidFill>
                <a:latin typeface="JetBrains Mono"/>
              </a:rPr>
              <a:t>SATURDAY AFTERNOON</a:t>
            </a:r>
          </a:p>
          <a:p>
            <a:pPr algn="l">
              <a:lnSpc>
                <a:spcPct val="114000"/>
              </a:lnSpc>
              <a:spcAft>
                <a:spcPts val="600"/>
              </a:spcAft>
            </a:pPr>
            <a:r>
              <a:rPr sz="1900" b="0" i="0">
                <a:solidFill>
                  <a:srgbClr val="0E1B36"/>
                </a:solidFill>
                <a:latin typeface="Cormorant Garamond"/>
              </a:rPr>
              <a:t>The local out exploring</a:t>
            </a:r>
          </a:p>
          <a:p>
            <a:pPr algn="l">
              <a:lnSpc>
                <a:spcPct val="140000"/>
              </a:lnSpc>
            </a:pPr>
            <a:r>
              <a:rPr sz="1100" b="0" i="0">
                <a:solidFill>
                  <a:srgbClr val="1C2638"/>
                </a:solidFill>
                <a:latin typeface="Inter"/>
              </a:rPr>
              <a:t>Lives in the city, knows enough to be choosy, often runs out of ideas when trying to figure out what to do.</a:t>
            </a:r>
          </a:p>
        </p:txBody>
      </p:sp>
      <p:sp>
        <p:nvSpPr>
          <p:cNvPr id="7" name="Rectangle 6"/>
          <p:cNvSpPr/>
          <p:nvPr/>
        </p:nvSpPr>
        <p:spPr>
          <a:xfrm>
            <a:off x="4390034" y="3246120"/>
            <a:ext cx="3411626" cy="1600200"/>
          </a:xfrm>
          <a:prstGeom prst="rect">
            <a:avLst/>
          </a:prstGeom>
          <a:solidFill>
            <a:srgbClr val="FBF8F2"/>
          </a:solidFill>
          <a:ln w="9525">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914" y="3392424"/>
            <a:ext cx="3045866" cy="1307592"/>
          </a:xfrm>
          <a:prstGeom prst="rect">
            <a:avLst/>
          </a:prstGeom>
          <a:noFill/>
        </p:spPr>
        <p:txBody>
          <a:bodyPr wrap="square" lIns="0" rIns="0" tIns="0" bIns="0" anchor="t">
            <a:spAutoFit/>
          </a:bodyPr>
          <a:lstStyle/>
          <a:p>
            <a:pPr algn="l">
              <a:spcAft>
                <a:spcPts val="400"/>
              </a:spcAft>
            </a:pPr>
            <a:r>
              <a:rPr sz="900" b="1" i="0" spc="200">
                <a:solidFill>
                  <a:srgbClr val="1F3D88"/>
                </a:solidFill>
                <a:latin typeface="JetBrains Mono"/>
              </a:rPr>
              <a:t>ON THE HUNT</a:t>
            </a:r>
          </a:p>
          <a:p>
            <a:pPr algn="l">
              <a:lnSpc>
                <a:spcPct val="114000"/>
              </a:lnSpc>
              <a:spcAft>
                <a:spcPts val="600"/>
              </a:spcAft>
            </a:pPr>
            <a:r>
              <a:rPr sz="1900" b="0" i="0">
                <a:solidFill>
                  <a:srgbClr val="0E1B36"/>
                </a:solidFill>
                <a:latin typeface="Cormorant Garamond"/>
              </a:rPr>
              <a:t>The collector hitting the circuit</a:t>
            </a:r>
          </a:p>
          <a:p>
            <a:pPr algn="l">
              <a:lnSpc>
                <a:spcPct val="140000"/>
              </a:lnSpc>
            </a:pPr>
            <a:r>
              <a:rPr sz="1100" b="0" i="0">
                <a:solidFill>
                  <a:srgbClr val="1C2638"/>
                </a:solidFill>
                <a:latin typeface="Inter"/>
              </a:rPr>
              <a:t>Lives for openings, studio visits, and finding the next world-changing artist.</a:t>
            </a:r>
          </a:p>
        </p:txBody>
      </p:sp>
      <p:sp>
        <p:nvSpPr>
          <p:cNvPr id="9" name="Rectangle 8"/>
          <p:cNvSpPr/>
          <p:nvPr/>
        </p:nvSpPr>
        <p:spPr>
          <a:xfrm>
            <a:off x="8002828" y="3246120"/>
            <a:ext cx="3411626" cy="1600200"/>
          </a:xfrm>
          <a:prstGeom prst="rect">
            <a:avLst/>
          </a:prstGeom>
          <a:solidFill>
            <a:srgbClr val="FBF8F2"/>
          </a:solidFill>
          <a:ln w="9525">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5708" y="3392424"/>
            <a:ext cx="3045866" cy="1307592"/>
          </a:xfrm>
          <a:prstGeom prst="rect">
            <a:avLst/>
          </a:prstGeom>
          <a:noFill/>
        </p:spPr>
        <p:txBody>
          <a:bodyPr wrap="square" lIns="0" rIns="0" tIns="0" bIns="0" anchor="t">
            <a:spAutoFit/>
          </a:bodyPr>
          <a:lstStyle/>
          <a:p>
            <a:pPr algn="l">
              <a:spcAft>
                <a:spcPts val="400"/>
              </a:spcAft>
            </a:pPr>
            <a:r>
              <a:rPr sz="900" b="1" i="0" spc="200">
                <a:solidFill>
                  <a:srgbClr val="1F3D88"/>
                </a:solidFill>
                <a:latin typeface="JetBrains Mono"/>
              </a:rPr>
              <a:t>WEEKEND FAMILY</a:t>
            </a:r>
          </a:p>
          <a:p>
            <a:pPr algn="l">
              <a:lnSpc>
                <a:spcPct val="114000"/>
              </a:lnSpc>
              <a:spcAft>
                <a:spcPts val="600"/>
              </a:spcAft>
            </a:pPr>
            <a:r>
              <a:rPr sz="1900" b="0" i="0">
                <a:solidFill>
                  <a:srgbClr val="0E1B36"/>
                </a:solidFill>
                <a:latin typeface="Cormorant Garamond"/>
              </a:rPr>
              <a:t>The family with kids</a:t>
            </a:r>
          </a:p>
          <a:p>
            <a:pPr algn="l">
              <a:lnSpc>
                <a:spcPct val="140000"/>
              </a:lnSpc>
            </a:pPr>
            <a:r>
              <a:rPr sz="1100" b="0" i="0">
                <a:solidFill>
                  <a:srgbClr val="1C2638"/>
                </a:solidFill>
                <a:latin typeface="Inter"/>
              </a:rPr>
              <a:t>Wants culture as part of a weekend, not as an obligation. Friendly, age-aware, reachable.</a:t>
            </a:r>
          </a:p>
        </p:txBody>
      </p:sp>
      <p:sp>
        <p:nvSpPr>
          <p:cNvPr id="11" name="Rectangle 10"/>
          <p:cNvSpPr/>
          <p:nvPr/>
        </p:nvSpPr>
        <p:spPr>
          <a:xfrm>
            <a:off x="777240" y="5047488"/>
            <a:ext cx="3411626" cy="1600200"/>
          </a:xfrm>
          <a:prstGeom prst="rect">
            <a:avLst/>
          </a:prstGeom>
          <a:solidFill>
            <a:srgbClr val="FBF8F2"/>
          </a:solidFill>
          <a:ln w="9525">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193792"/>
            <a:ext cx="3045866" cy="1307592"/>
          </a:xfrm>
          <a:prstGeom prst="rect">
            <a:avLst/>
          </a:prstGeom>
          <a:noFill/>
        </p:spPr>
        <p:txBody>
          <a:bodyPr wrap="square" lIns="0" rIns="0" tIns="0" bIns="0" anchor="t">
            <a:spAutoFit/>
          </a:bodyPr>
          <a:lstStyle/>
          <a:p>
            <a:pPr algn="l">
              <a:spcAft>
                <a:spcPts val="400"/>
              </a:spcAft>
            </a:pPr>
            <a:r>
              <a:rPr sz="900" b="1" i="0" spc="200">
                <a:solidFill>
                  <a:srgbClr val="1F3D88"/>
                </a:solidFill>
                <a:latin typeface="JetBrains Mono"/>
              </a:rPr>
              <a:t>AMBITIOUS LEARNER</a:t>
            </a:r>
          </a:p>
          <a:p>
            <a:pPr algn="l">
              <a:lnSpc>
                <a:spcPct val="114000"/>
              </a:lnSpc>
              <a:spcAft>
                <a:spcPts val="600"/>
              </a:spcAft>
            </a:pPr>
            <a:r>
              <a:rPr sz="1900" b="0" i="0">
                <a:solidFill>
                  <a:srgbClr val="0E1B36"/>
                </a:solidFill>
                <a:latin typeface="Cormorant Garamond"/>
              </a:rPr>
              <a:t>The student on a budget</a:t>
            </a:r>
          </a:p>
          <a:p>
            <a:pPr algn="l">
              <a:lnSpc>
                <a:spcPct val="140000"/>
              </a:lnSpc>
            </a:pPr>
            <a:r>
              <a:rPr sz="1100" b="0" i="0">
                <a:solidFill>
                  <a:srgbClr val="1C2638"/>
                </a:solidFill>
                <a:latin typeface="Inter"/>
              </a:rPr>
              <a:t>Curious, idea-hungry, stretching every cultural dollar. What's free, near transit, eye-sharpening.</a:t>
            </a:r>
          </a:p>
        </p:txBody>
      </p:sp>
      <p:sp>
        <p:nvSpPr>
          <p:cNvPr id="13" name="Rectangle 12"/>
          <p:cNvSpPr/>
          <p:nvPr/>
        </p:nvSpPr>
        <p:spPr>
          <a:xfrm>
            <a:off x="4390034" y="5047488"/>
            <a:ext cx="3411626" cy="1600200"/>
          </a:xfrm>
          <a:prstGeom prst="rect">
            <a:avLst/>
          </a:prstGeom>
          <a:solidFill>
            <a:srgbClr val="FBF8F2"/>
          </a:solidFill>
          <a:ln w="9525">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914" y="5193792"/>
            <a:ext cx="3045866" cy="1307592"/>
          </a:xfrm>
          <a:prstGeom prst="rect">
            <a:avLst/>
          </a:prstGeom>
          <a:noFill/>
        </p:spPr>
        <p:txBody>
          <a:bodyPr wrap="square" lIns="0" rIns="0" tIns="0" bIns="0" anchor="t">
            <a:spAutoFit/>
          </a:bodyPr>
          <a:lstStyle/>
          <a:p>
            <a:pPr algn="l">
              <a:spcAft>
                <a:spcPts val="400"/>
              </a:spcAft>
            </a:pPr>
            <a:r>
              <a:rPr sz="900" b="1" i="0" spc="200">
                <a:solidFill>
                  <a:srgbClr val="1F3D88"/>
                </a:solidFill>
                <a:latin typeface="JetBrains Mono"/>
              </a:rPr>
              <a:t>TRAINING TASTE</a:t>
            </a:r>
          </a:p>
          <a:p>
            <a:pPr algn="l">
              <a:lnSpc>
                <a:spcPct val="114000"/>
              </a:lnSpc>
              <a:spcAft>
                <a:spcPts val="600"/>
              </a:spcAft>
            </a:pPr>
            <a:r>
              <a:rPr sz="1900" b="0" i="0">
                <a:solidFill>
                  <a:srgbClr val="0E1B36"/>
                </a:solidFill>
                <a:latin typeface="Cormorant Garamond"/>
              </a:rPr>
              <a:t>The tech worker seeking inspo</a:t>
            </a:r>
          </a:p>
          <a:p>
            <a:pPr algn="l">
              <a:lnSpc>
                <a:spcPct val="140000"/>
              </a:lnSpc>
            </a:pPr>
            <a:r>
              <a:rPr sz="1100" b="0" i="0">
                <a:solidFill>
                  <a:srgbClr val="1C2638"/>
                </a:solidFill>
                <a:latin typeface="Inter"/>
              </a:rPr>
              <a:t>Building the next generation of tools and looking for cultural input that sharpens taste.</a:t>
            </a:r>
          </a:p>
        </p:txBody>
      </p:sp>
      <p:sp>
        <p:nvSpPr>
          <p:cNvPr id="15" name="Rectangle 14"/>
          <p:cNvSpPr/>
          <p:nvPr/>
        </p:nvSpPr>
        <p:spPr>
          <a:xfrm>
            <a:off x="8002828" y="5047488"/>
            <a:ext cx="3411626" cy="1600200"/>
          </a:xfrm>
          <a:prstGeom prst="rect">
            <a:avLst/>
          </a:prstGeom>
          <a:solidFill>
            <a:srgbClr val="FBF8F2"/>
          </a:solidFill>
          <a:ln w="9525">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5708" y="5193792"/>
            <a:ext cx="3045866" cy="1307592"/>
          </a:xfrm>
          <a:prstGeom prst="rect">
            <a:avLst/>
          </a:prstGeom>
          <a:noFill/>
        </p:spPr>
        <p:txBody>
          <a:bodyPr wrap="square" lIns="0" rIns="0" tIns="0" bIns="0" anchor="t">
            <a:spAutoFit/>
          </a:bodyPr>
          <a:lstStyle/>
          <a:p>
            <a:pPr algn="l">
              <a:spcAft>
                <a:spcPts val="400"/>
              </a:spcAft>
            </a:pPr>
            <a:r>
              <a:rPr sz="900" b="1" i="0" spc="200">
                <a:solidFill>
                  <a:srgbClr val="1F3D88"/>
                </a:solidFill>
                <a:latin typeface="JetBrains Mono"/>
              </a:rPr>
              <a:t>VISITOR WITH A WEEKEND</a:t>
            </a:r>
          </a:p>
          <a:p>
            <a:pPr algn="l">
              <a:lnSpc>
                <a:spcPct val="114000"/>
              </a:lnSpc>
              <a:spcAft>
                <a:spcPts val="600"/>
              </a:spcAft>
            </a:pPr>
            <a:r>
              <a:rPr sz="1900" b="0" i="0">
                <a:solidFill>
                  <a:srgbClr val="0E1B36"/>
                </a:solidFill>
                <a:latin typeface="Cormorant Garamond"/>
              </a:rPr>
              <a:t>The tourist on the town</a:t>
            </a:r>
          </a:p>
          <a:p>
            <a:pPr algn="l">
              <a:lnSpc>
                <a:spcPct val="140000"/>
              </a:lnSpc>
            </a:pPr>
            <a:r>
              <a:rPr sz="1100" b="0" i="0">
                <a:solidFill>
                  <a:srgbClr val="1C2638"/>
                </a:solidFill>
                <a:latin typeface="Inter"/>
              </a:rPr>
              <a:t>A few hours, doesn't know the neighborhoods, wants the best of SF on a walkable itinerary.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777240" y="274320"/>
            <a:ext cx="7315200" cy="320040"/>
          </a:xfrm>
          <a:prstGeom prst="rect">
            <a:avLst/>
          </a:prstGeom>
          <a:noFill/>
        </p:spPr>
        <p:txBody>
          <a:bodyPr wrap="square" lIns="0" rIns="0" tIns="0" bIns="0" anchor="ctr">
            <a:spAutoFit/>
          </a:bodyPr>
          <a:lstStyle/>
          <a:p>
            <a:pPr algn="l"/>
            <a:r>
              <a:rPr sz="1100" b="1" i="0" spc="300">
                <a:solidFill>
                  <a:srgbClr val="0E1B36"/>
                </a:solidFill>
                <a:latin typeface="JetBrains Mono"/>
              </a:rPr>
              <a:t>SAN FRANCISCO · CIVIC ART MAP</a:t>
            </a:r>
          </a:p>
        </p:txBody>
      </p:sp>
      <p:sp>
        <p:nvSpPr>
          <p:cNvPr id="3" name="Rectangle 2"/>
          <p:cNvSpPr/>
          <p:nvPr/>
        </p:nvSpPr>
        <p:spPr>
          <a:xfrm>
            <a:off x="0" y="749808"/>
            <a:ext cx="12191695" cy="9525"/>
          </a:xfrm>
          <a:prstGeom prst="rect">
            <a:avLst/>
          </a:prstGeom>
          <a:solidFill>
            <a:srgbClr val="D6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97280"/>
            <a:ext cx="10637215" cy="2103120"/>
          </a:xfrm>
          <a:prstGeom prst="rect">
            <a:avLst/>
          </a:prstGeom>
          <a:noFill/>
        </p:spPr>
        <p:txBody>
          <a:bodyPr wrap="square" lIns="0" rIns="0" tIns="0" bIns="0" anchor="t">
            <a:spAutoFit/>
          </a:bodyPr>
          <a:lstStyle/>
          <a:p>
            <a:pPr algn="l">
              <a:spcAft>
                <a:spcPts val="1400"/>
              </a:spcAft>
            </a:pPr>
            <a:r>
              <a:rPr sz="1100" b="1" i="0" spc="240">
                <a:solidFill>
                  <a:srgbClr val="1F3D88"/>
                </a:solidFill>
                <a:latin typeface="JetBrains Mono"/>
              </a:rPr>
              <a:t>THE EXPERIENCE</a:t>
            </a:r>
          </a:p>
          <a:p>
            <a:pPr algn="l">
              <a:spcAft>
                <a:spcPts val="1400"/>
              </a:spcAft>
            </a:pPr>
            <a:r>
              <a:rPr sz="3200" b="0" i="0">
                <a:solidFill>
                  <a:srgbClr val="0E1B36"/>
                </a:solidFill>
                <a:latin typeface="Cormorant Garamond"/>
              </a:rPr>
              <a:t>A single user journey shapes the whole product: prepare, encounter, reward.</a:t>
            </a:r>
          </a:p>
          <a:p>
            <a:pPr algn="l">
              <a:lnSpc>
                <a:spcPct val="142000"/>
              </a:lnSpc>
              <a:spcBef>
                <a:spcPts val="400"/>
              </a:spcBef>
            </a:pPr>
            <a:r>
              <a:rPr sz="1400" b="0" i="0">
                <a:solidFill>
                  <a:srgbClr val="1C2638"/>
                </a:solidFill>
                <a:latin typeface="Inter"/>
              </a:rPr>
              <a:t>The map's job is to use digital tools to funnel people into the real—and then use digital tools to augment their experience. The interpretive layer is built on a three-part choreography that lowers the barrier to understanding and elevates the visitor's intent.</a:t>
            </a:r>
          </a:p>
        </p:txBody>
      </p:sp>
      <p:sp>
        <p:nvSpPr>
          <p:cNvPr id="5" name="TextBox 4"/>
          <p:cNvSpPr txBox="1"/>
          <p:nvPr/>
        </p:nvSpPr>
        <p:spPr>
          <a:xfrm>
            <a:off x="777240" y="3703320"/>
            <a:ext cx="3301898" cy="1645920"/>
          </a:xfrm>
          <a:prstGeom prst="rect">
            <a:avLst/>
          </a:prstGeom>
          <a:noFill/>
        </p:spPr>
        <p:txBody>
          <a:bodyPr wrap="square" lIns="0" rIns="0" tIns="0" bIns="0" anchor="t">
            <a:spAutoFit/>
          </a:bodyPr>
          <a:lstStyle/>
          <a:p>
            <a:pPr algn="l">
              <a:spcAft>
                <a:spcPts val="400"/>
              </a:spcAft>
            </a:pPr>
            <a:r>
              <a:rPr sz="1300" b="1" i="0">
                <a:solidFill>
                  <a:srgbClr val="1F3D88"/>
                </a:solidFill>
                <a:latin typeface="JetBrains Mono"/>
              </a:rPr>
              <a:t>I.</a:t>
            </a:r>
          </a:p>
          <a:p>
            <a:pPr algn="l">
              <a:lnSpc>
                <a:spcPct val="114000"/>
              </a:lnSpc>
              <a:spcAft>
                <a:spcPts val="600"/>
              </a:spcAft>
            </a:pPr>
            <a:r>
              <a:rPr sz="2600" b="0" i="0">
                <a:solidFill>
                  <a:srgbClr val="0E1B36"/>
                </a:solidFill>
                <a:latin typeface="Cormorant Garamond"/>
              </a:rPr>
              <a:t>Prepare</a:t>
            </a:r>
          </a:p>
          <a:p>
            <a:pPr algn="l">
              <a:lnSpc>
                <a:spcPct val="142000"/>
              </a:lnSpc>
            </a:pPr>
            <a:r>
              <a:rPr sz="1150" b="0" i="0">
                <a:solidFill>
                  <a:srgbClr val="1C2638"/>
                </a:solidFill>
                <a:latin typeface="Inter"/>
              </a:rPr>
              <a:t>Before the visit, the map gives the visitor the priming context that makes the encounter resonant—curator-vetted, AI-assisted, voiced in the institution's register.</a:t>
            </a:r>
          </a:p>
        </p:txBody>
      </p:sp>
      <p:sp>
        <p:nvSpPr>
          <p:cNvPr id="6" name="TextBox 5"/>
          <p:cNvSpPr txBox="1"/>
          <p:nvPr/>
        </p:nvSpPr>
        <p:spPr>
          <a:xfrm>
            <a:off x="4444898" y="3703320"/>
            <a:ext cx="3301898" cy="1645920"/>
          </a:xfrm>
          <a:prstGeom prst="rect">
            <a:avLst/>
          </a:prstGeom>
          <a:noFill/>
        </p:spPr>
        <p:txBody>
          <a:bodyPr wrap="square" lIns="0" rIns="0" tIns="0" bIns="0" anchor="t">
            <a:spAutoFit/>
          </a:bodyPr>
          <a:lstStyle/>
          <a:p>
            <a:pPr algn="l">
              <a:spcAft>
                <a:spcPts val="400"/>
              </a:spcAft>
            </a:pPr>
            <a:r>
              <a:rPr sz="1300" b="1" i="0">
                <a:solidFill>
                  <a:srgbClr val="1F3D88"/>
                </a:solidFill>
                <a:latin typeface="JetBrains Mono"/>
              </a:rPr>
              <a:t>II.</a:t>
            </a:r>
          </a:p>
          <a:p>
            <a:pPr algn="l">
              <a:lnSpc>
                <a:spcPct val="114000"/>
              </a:lnSpc>
              <a:spcAft>
                <a:spcPts val="600"/>
              </a:spcAft>
            </a:pPr>
            <a:r>
              <a:rPr sz="2600" b="0" i="0">
                <a:solidFill>
                  <a:srgbClr val="0E1B36"/>
                </a:solidFill>
                <a:latin typeface="Cormorant Garamond"/>
              </a:rPr>
              <a:t>Encounter</a:t>
            </a:r>
          </a:p>
          <a:p>
            <a:pPr algn="l">
              <a:lnSpc>
                <a:spcPct val="142000"/>
              </a:lnSpc>
            </a:pPr>
            <a:r>
              <a:rPr sz="1150" b="0" i="0">
                <a:solidFill>
                  <a:srgbClr val="1C2638"/>
                </a:solidFill>
                <a:latin typeface="Inter"/>
              </a:rPr>
              <a:t>During the visit, the map is a helpful expert companion—audio guides tuned to one's preference, a wayfinding layer that respects the institution's authority.</a:t>
            </a:r>
          </a:p>
        </p:txBody>
      </p:sp>
      <p:sp>
        <p:nvSpPr>
          <p:cNvPr id="7" name="TextBox 6"/>
          <p:cNvSpPr txBox="1"/>
          <p:nvPr/>
        </p:nvSpPr>
        <p:spPr>
          <a:xfrm>
            <a:off x="8112556" y="3703320"/>
            <a:ext cx="3301898" cy="1645920"/>
          </a:xfrm>
          <a:prstGeom prst="rect">
            <a:avLst/>
          </a:prstGeom>
          <a:noFill/>
        </p:spPr>
        <p:txBody>
          <a:bodyPr wrap="square" lIns="0" rIns="0" tIns="0" bIns="0" anchor="t">
            <a:spAutoFit/>
          </a:bodyPr>
          <a:lstStyle/>
          <a:p>
            <a:pPr algn="l">
              <a:spcAft>
                <a:spcPts val="400"/>
              </a:spcAft>
            </a:pPr>
            <a:r>
              <a:rPr sz="1300" b="1" i="0">
                <a:solidFill>
                  <a:srgbClr val="1F3D88"/>
                </a:solidFill>
                <a:latin typeface="JetBrains Mono"/>
              </a:rPr>
              <a:t>III.</a:t>
            </a:r>
          </a:p>
          <a:p>
            <a:pPr algn="l">
              <a:lnSpc>
                <a:spcPct val="114000"/>
              </a:lnSpc>
              <a:spcAft>
                <a:spcPts val="600"/>
              </a:spcAft>
            </a:pPr>
            <a:r>
              <a:rPr sz="2600" b="0" i="0">
                <a:solidFill>
                  <a:srgbClr val="0E1B36"/>
                </a:solidFill>
                <a:latin typeface="Cormorant Garamond"/>
              </a:rPr>
              <a:t>Reward</a:t>
            </a:r>
          </a:p>
          <a:p>
            <a:pPr algn="l">
              <a:lnSpc>
                <a:spcPct val="142000"/>
              </a:lnSpc>
            </a:pPr>
            <a:r>
              <a:rPr sz="1150" b="0" i="0">
                <a:solidFill>
                  <a:srgbClr val="1C2638"/>
                </a:solidFill>
                <a:latin typeface="Inter"/>
              </a:rPr>
              <a:t>Virtuous gamification—streaks, badges—turns completed itineraries and repeat visits into status. Light-lift reviews become attention-directing signals.</a:t>
            </a:r>
          </a:p>
        </p:txBody>
      </p:sp>
      <p:sp>
        <p:nvSpPr>
          <p:cNvPr id="8" name="Rounded Rectangle 7"/>
          <p:cNvSpPr/>
          <p:nvPr/>
        </p:nvSpPr>
        <p:spPr>
          <a:xfrm>
            <a:off x="4174337" y="5577840"/>
            <a:ext cx="492760" cy="274320"/>
          </a:xfrm>
          <a:prstGeom prst="roundRect">
            <a:avLst>
              <a:gd name="adj" fmla="val 50000"/>
            </a:avLst>
          </a:prstGeom>
          <a:solidFill>
            <a:srgbClr val="FBF8F2"/>
          </a:solidFill>
          <a:ln w="635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a:lstStyle/>
          <a:p>
            <a:pPr algn="l"/>
            <a:r>
              <a:rPr sz="1000" b="0" i="0">
                <a:solidFill>
                  <a:srgbClr val="1C2638"/>
                </a:solidFill>
                <a:latin typeface="JetBrains Mono"/>
              </a:rPr>
              <a:t>Time</a:t>
            </a:r>
          </a:p>
        </p:txBody>
      </p:sp>
      <p:sp>
        <p:nvSpPr>
          <p:cNvPr id="9" name="Rounded Rectangle 8"/>
          <p:cNvSpPr/>
          <p:nvPr/>
        </p:nvSpPr>
        <p:spPr>
          <a:xfrm>
            <a:off x="4758537" y="5577840"/>
            <a:ext cx="782320" cy="274320"/>
          </a:xfrm>
          <a:prstGeom prst="roundRect">
            <a:avLst>
              <a:gd name="adj" fmla="val 50000"/>
            </a:avLst>
          </a:prstGeom>
          <a:solidFill>
            <a:srgbClr val="FBF8F2"/>
          </a:solidFill>
          <a:ln w="635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a:lstStyle/>
          <a:p>
            <a:pPr algn="l"/>
            <a:r>
              <a:rPr sz="1000" b="0" i="0">
                <a:solidFill>
                  <a:srgbClr val="1C2638"/>
                </a:solidFill>
                <a:latin typeface="JetBrains Mono"/>
              </a:rPr>
              <a:t>Distance</a:t>
            </a:r>
          </a:p>
        </p:txBody>
      </p:sp>
      <p:sp>
        <p:nvSpPr>
          <p:cNvPr id="10" name="Rounded Rectangle 9"/>
          <p:cNvSpPr/>
          <p:nvPr/>
        </p:nvSpPr>
        <p:spPr>
          <a:xfrm>
            <a:off x="5632297" y="5577840"/>
            <a:ext cx="492760" cy="274320"/>
          </a:xfrm>
          <a:prstGeom prst="roundRect">
            <a:avLst>
              <a:gd name="adj" fmla="val 50000"/>
            </a:avLst>
          </a:prstGeom>
          <a:solidFill>
            <a:srgbClr val="FBF8F2"/>
          </a:solidFill>
          <a:ln w="635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a:lstStyle/>
          <a:p>
            <a:pPr algn="l"/>
            <a:r>
              <a:rPr sz="1000" b="0" i="0">
                <a:solidFill>
                  <a:srgbClr val="1C2638"/>
                </a:solidFill>
                <a:latin typeface="JetBrains Mono"/>
              </a:rPr>
              <a:t>Mood</a:t>
            </a:r>
          </a:p>
        </p:txBody>
      </p:sp>
      <p:sp>
        <p:nvSpPr>
          <p:cNvPr id="11" name="Rounded Rectangle 10"/>
          <p:cNvSpPr/>
          <p:nvPr/>
        </p:nvSpPr>
        <p:spPr>
          <a:xfrm>
            <a:off x="6216497" y="5577840"/>
            <a:ext cx="999490" cy="274320"/>
          </a:xfrm>
          <a:prstGeom prst="roundRect">
            <a:avLst>
              <a:gd name="adj" fmla="val 50000"/>
            </a:avLst>
          </a:prstGeom>
          <a:solidFill>
            <a:srgbClr val="FBF8F2"/>
          </a:solidFill>
          <a:ln w="635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a:lstStyle/>
          <a:p>
            <a:pPr algn="l"/>
            <a:r>
              <a:rPr sz="1000" b="0" i="0">
                <a:solidFill>
                  <a:srgbClr val="1C2638"/>
                </a:solidFill>
                <a:latin typeface="JetBrains Mono"/>
              </a:rPr>
              <a:t>Preferences</a:t>
            </a:r>
          </a:p>
        </p:txBody>
      </p:sp>
      <p:sp>
        <p:nvSpPr>
          <p:cNvPr id="12" name="Rounded Rectangle 11"/>
          <p:cNvSpPr/>
          <p:nvPr/>
        </p:nvSpPr>
        <p:spPr>
          <a:xfrm>
            <a:off x="7307427" y="5577840"/>
            <a:ext cx="709930" cy="274320"/>
          </a:xfrm>
          <a:prstGeom prst="roundRect">
            <a:avLst>
              <a:gd name="adj" fmla="val 50000"/>
            </a:avLst>
          </a:prstGeom>
          <a:solidFill>
            <a:srgbClr val="FBF8F2"/>
          </a:solidFill>
          <a:ln w="6350">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a:lstStyle/>
          <a:p>
            <a:pPr algn="l"/>
            <a:r>
              <a:rPr sz="1000" b="0" i="0">
                <a:solidFill>
                  <a:srgbClr val="1C2638"/>
                </a:solidFill>
                <a:latin typeface="JetBrains Mono"/>
              </a:rPr>
              <a:t>Network</a:t>
            </a:r>
          </a:p>
        </p:txBody>
      </p:sp>
      <p:sp>
        <p:nvSpPr>
          <p:cNvPr id="13" name="TextBox 12"/>
          <p:cNvSpPr txBox="1"/>
          <p:nvPr/>
        </p:nvSpPr>
        <p:spPr>
          <a:xfrm>
            <a:off x="777240" y="5961888"/>
            <a:ext cx="10637215" cy="274320"/>
          </a:xfrm>
          <a:prstGeom prst="rect">
            <a:avLst/>
          </a:prstGeom>
          <a:noFill/>
        </p:spPr>
        <p:txBody>
          <a:bodyPr wrap="square" lIns="0" rIns="0" tIns="0" bIns="0" anchor="t">
            <a:spAutoFit/>
          </a:bodyPr>
          <a:lstStyle/>
          <a:p>
            <a:pPr algn="l"/>
            <a:r>
              <a:rPr sz="1100" b="0" i="1">
                <a:solidFill>
                  <a:srgbClr val="5C6577"/>
                </a:solidFill>
                <a:latin typeface="Inter"/>
              </a:rPr>
              <a:t>Composable interface primitives that combine into emergent journeys.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DF1F8"/>
        </a:solidFill>
        <a:effectLst/>
      </p:bgPr>
    </p:bg>
    <p:spTree>
      <p:nvGrpSpPr>
        <p:cNvPr id="1" name=""/>
        <p:cNvGrpSpPr/>
        <p:nvPr/>
      </p:nvGrpSpPr>
      <p:grpSpPr/>
      <p:sp>
        <p:nvSpPr>
          <p:cNvPr id="2" name="TextBox 1"/>
          <p:cNvSpPr txBox="1"/>
          <p:nvPr/>
        </p:nvSpPr>
        <p:spPr>
          <a:xfrm>
            <a:off x="777240" y="274320"/>
            <a:ext cx="7315200" cy="320040"/>
          </a:xfrm>
          <a:prstGeom prst="rect">
            <a:avLst/>
          </a:prstGeom>
          <a:noFill/>
        </p:spPr>
        <p:txBody>
          <a:bodyPr wrap="square" lIns="0" rIns="0" tIns="0" bIns="0" anchor="ctr">
            <a:spAutoFit/>
          </a:bodyPr>
          <a:lstStyle/>
          <a:p>
            <a:pPr algn="l"/>
            <a:r>
              <a:rPr sz="1100" b="1" i="0" spc="300">
                <a:solidFill>
                  <a:srgbClr val="0E1B36"/>
                </a:solidFill>
                <a:latin typeface="JetBrains Mono"/>
              </a:rPr>
              <a:t>SAN FRANCISCO · CIVIC ART MAP</a:t>
            </a:r>
          </a:p>
        </p:txBody>
      </p:sp>
      <p:sp>
        <p:nvSpPr>
          <p:cNvPr id="3" name="Rectangle 2"/>
          <p:cNvSpPr/>
          <p:nvPr/>
        </p:nvSpPr>
        <p:spPr>
          <a:xfrm>
            <a:off x="0" y="749808"/>
            <a:ext cx="12191695" cy="9525"/>
          </a:xfrm>
          <a:prstGeom prst="rect">
            <a:avLst/>
          </a:prstGeom>
          <a:solidFill>
            <a:srgbClr val="D6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97280"/>
            <a:ext cx="10637215" cy="2286000"/>
          </a:xfrm>
          <a:prstGeom prst="rect">
            <a:avLst/>
          </a:prstGeom>
          <a:noFill/>
        </p:spPr>
        <p:txBody>
          <a:bodyPr wrap="square" lIns="0" rIns="0" tIns="0" bIns="0" anchor="t">
            <a:spAutoFit/>
          </a:bodyPr>
          <a:lstStyle/>
          <a:p>
            <a:pPr algn="l">
              <a:spcAft>
                <a:spcPts val="1400"/>
              </a:spcAft>
            </a:pPr>
            <a:r>
              <a:rPr sz="1100" b="1" i="0" spc="240">
                <a:solidFill>
                  <a:srgbClr val="1F3D88"/>
                </a:solidFill>
                <a:latin typeface="JetBrains Mono"/>
              </a:rPr>
              <a:t>THE UNLOCK</a:t>
            </a:r>
          </a:p>
          <a:p>
            <a:pPr algn="l">
              <a:spcAft>
                <a:spcPts val="1400"/>
              </a:spcAft>
            </a:pPr>
            <a:r>
              <a:rPr sz="3200" b="0" i="0">
                <a:solidFill>
                  <a:srgbClr val="0E1B36"/>
                </a:solidFill>
                <a:latin typeface="Cormorant Garamond"/>
              </a:rPr>
              <a:t>San Francisco's tech leaders are art people. The map gives them a way to contribute that isn't writing a check.</a:t>
            </a:r>
          </a:p>
          <a:p>
            <a:pPr algn="l">
              <a:lnSpc>
                <a:spcPct val="142000"/>
              </a:lnSpc>
              <a:spcBef>
                <a:spcPts val="400"/>
              </a:spcBef>
            </a:pPr>
            <a:r>
              <a:rPr sz="1300" b="0" i="0">
                <a:solidFill>
                  <a:srgbClr val="1C2638"/>
                </a:solidFill>
                <a:latin typeface="Inter"/>
              </a:rPr>
              <a:t>The founders building the next generation of technology are often deeply interested in art. They collect. They support institutions. They sit on cultural boards. They are surrounded by colleagues who would happily contribute talent, infrastructure, and access to a worthy civic project—if the project were ambitious enough to deserve it.</a:t>
            </a:r>
          </a:p>
        </p:txBody>
      </p:sp>
      <p:sp>
        <p:nvSpPr>
          <p:cNvPr id="5" name="Rectangle 4"/>
          <p:cNvSpPr/>
          <p:nvPr/>
        </p:nvSpPr>
        <p:spPr>
          <a:xfrm>
            <a:off x="777240" y="4251960"/>
            <a:ext cx="3393338" cy="1417320"/>
          </a:xfrm>
          <a:prstGeom prst="rect">
            <a:avLst/>
          </a:prstGeom>
          <a:solidFill>
            <a:srgbClr val="E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4251960"/>
            <a:ext cx="3393338" cy="38100"/>
          </a:xfrm>
          <a:prstGeom prst="rect">
            <a:avLst/>
          </a:prstGeom>
          <a:solidFill>
            <a:srgbClr val="1F3D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4379976"/>
            <a:ext cx="3064154" cy="1161288"/>
          </a:xfrm>
          <a:prstGeom prst="rect">
            <a:avLst/>
          </a:prstGeom>
          <a:noFill/>
        </p:spPr>
        <p:txBody>
          <a:bodyPr wrap="square" lIns="0" rIns="0" tIns="0" bIns="0" anchor="t">
            <a:spAutoFit/>
          </a:bodyPr>
          <a:lstStyle/>
          <a:p>
            <a:pPr algn="l">
              <a:lnSpc>
                <a:spcPct val="118000"/>
              </a:lnSpc>
              <a:spcAft>
                <a:spcPts val="600"/>
              </a:spcAft>
            </a:pPr>
            <a:r>
              <a:rPr sz="2000" b="0" i="0">
                <a:solidFill>
                  <a:srgbClr val="0E1B36"/>
                </a:solidFill>
                <a:latin typeface="Cormorant Garamond"/>
              </a:rPr>
              <a:t>As civic collaborators</a:t>
            </a:r>
          </a:p>
          <a:p>
            <a:pPr algn="l">
              <a:lnSpc>
                <a:spcPct val="140000"/>
              </a:lnSpc>
            </a:pPr>
            <a:r>
              <a:rPr sz="1100" b="0" i="0">
                <a:solidFill>
                  <a:srgbClr val="1C2638"/>
                </a:solidFill>
                <a:latin typeface="Inter"/>
              </a:rPr>
              <a:t>The map becomes a venue where their interest in art finds civic expression. Their teams can volunteer design and engineering. Their companies can lend infrastructure. The act of asking for capability rather than capital changes the whole register of the conversation.</a:t>
            </a:r>
          </a:p>
        </p:txBody>
      </p:sp>
      <p:sp>
        <p:nvSpPr>
          <p:cNvPr id="8" name="Rectangle 7"/>
          <p:cNvSpPr/>
          <p:nvPr/>
        </p:nvSpPr>
        <p:spPr>
          <a:xfrm>
            <a:off x="4399178" y="4251960"/>
            <a:ext cx="3393338" cy="1417320"/>
          </a:xfrm>
          <a:prstGeom prst="rect">
            <a:avLst/>
          </a:prstGeom>
          <a:solidFill>
            <a:srgbClr val="E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99178" y="4251960"/>
            <a:ext cx="3393338" cy="38100"/>
          </a:xfrm>
          <a:prstGeom prst="rect">
            <a:avLst/>
          </a:prstGeom>
          <a:solidFill>
            <a:srgbClr val="1F3D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3770" y="4379976"/>
            <a:ext cx="3064154" cy="1161288"/>
          </a:xfrm>
          <a:prstGeom prst="rect">
            <a:avLst/>
          </a:prstGeom>
          <a:noFill/>
        </p:spPr>
        <p:txBody>
          <a:bodyPr wrap="square" lIns="0" rIns="0" tIns="0" bIns="0" anchor="t">
            <a:spAutoFit/>
          </a:bodyPr>
          <a:lstStyle/>
          <a:p>
            <a:pPr algn="l">
              <a:lnSpc>
                <a:spcPct val="118000"/>
              </a:lnSpc>
              <a:spcAft>
                <a:spcPts val="600"/>
              </a:spcAft>
            </a:pPr>
            <a:r>
              <a:rPr sz="2000" b="0" i="0">
                <a:solidFill>
                  <a:srgbClr val="0E1B36"/>
                </a:solidFill>
                <a:latin typeface="Cormorant Garamond"/>
              </a:rPr>
              <a:t>As laboratory partners</a:t>
            </a:r>
          </a:p>
          <a:p>
            <a:pPr algn="l">
              <a:lnSpc>
                <a:spcPct val="140000"/>
              </a:lnSpc>
            </a:pPr>
            <a:r>
              <a:rPr sz="1100" b="0" i="0">
                <a:solidFill>
                  <a:srgbClr val="1C2638"/>
                </a:solidFill>
                <a:latin typeface="Inter"/>
              </a:rPr>
              <a:t>The map is a working environment for the technologies these companies are actively developing. AR glasses, spatial-audio interfaces, autonomous-vehicle services, AI-led interpretation—all need a curated, well-run real-world deployment surface. The map is that surface.</a:t>
            </a:r>
          </a:p>
        </p:txBody>
      </p:sp>
      <p:sp>
        <p:nvSpPr>
          <p:cNvPr id="11" name="Rectangle 10"/>
          <p:cNvSpPr/>
          <p:nvPr/>
        </p:nvSpPr>
        <p:spPr>
          <a:xfrm>
            <a:off x="8021116" y="4251960"/>
            <a:ext cx="3393338" cy="1417320"/>
          </a:xfrm>
          <a:prstGeom prst="rect">
            <a:avLst/>
          </a:prstGeom>
          <a:solidFill>
            <a:srgbClr val="E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21116" y="4251960"/>
            <a:ext cx="3393338" cy="38100"/>
          </a:xfrm>
          <a:prstGeom prst="rect">
            <a:avLst/>
          </a:prstGeom>
          <a:solidFill>
            <a:srgbClr val="1F3D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5708" y="4379976"/>
            <a:ext cx="3064154" cy="1161288"/>
          </a:xfrm>
          <a:prstGeom prst="rect">
            <a:avLst/>
          </a:prstGeom>
          <a:noFill/>
        </p:spPr>
        <p:txBody>
          <a:bodyPr wrap="square" lIns="0" rIns="0" tIns="0" bIns="0" anchor="t">
            <a:spAutoFit/>
          </a:bodyPr>
          <a:lstStyle/>
          <a:p>
            <a:pPr algn="l">
              <a:lnSpc>
                <a:spcPct val="118000"/>
              </a:lnSpc>
              <a:spcAft>
                <a:spcPts val="600"/>
              </a:spcAft>
            </a:pPr>
            <a:r>
              <a:rPr sz="2000" b="0" i="0">
                <a:solidFill>
                  <a:srgbClr val="0E1B36"/>
                </a:solidFill>
                <a:latin typeface="Cormorant Garamond"/>
              </a:rPr>
              <a:t>As founding stakeholders</a:t>
            </a:r>
          </a:p>
          <a:p>
            <a:pPr algn="l">
              <a:lnSpc>
                <a:spcPct val="140000"/>
              </a:lnSpc>
            </a:pPr>
            <a:r>
              <a:rPr sz="1100" b="0" i="0">
                <a:solidFill>
                  <a:srgbClr val="1C2638"/>
                </a:solidFill>
                <a:latin typeface="Inter"/>
              </a:rPr>
              <a:t>The map is designed to scale, but not extractively—a civic utility with a sustaining business model. The companies who help shape it here become the founding stakeholders of a new category of cultural infrastructure.</a:t>
            </a:r>
          </a:p>
        </p:txBody>
      </p:sp>
      <p:sp>
        <p:nvSpPr>
          <p:cNvPr id="14" name="Rectangle 13"/>
          <p:cNvSpPr/>
          <p:nvPr/>
        </p:nvSpPr>
        <p:spPr>
          <a:xfrm>
            <a:off x="777240" y="5852160"/>
            <a:ext cx="10637215" cy="594360"/>
          </a:xfrm>
          <a:prstGeom prst="rect">
            <a:avLst/>
          </a:prstGeom>
          <a:noFill/>
          <a:ln w="9525">
            <a:solidFill>
              <a:srgbClr val="1F3D88"/>
            </a:solidFill>
          </a:ln>
          <a:effectLst/>
        </p:spPr>
        <p:style>
          <a:lnRef idx="1">
            <a:schemeClr val="accent1"/>
          </a:lnRef>
          <a:fillRef idx="3">
            <a:schemeClr val="accent1"/>
          </a:fillRef>
          <a:effectRef idx="2">
            <a:schemeClr val="accent1"/>
          </a:effectRef>
          <a:fontRef idx="minor">
            <a:schemeClr val="lt1"/>
          </a:fontRef>
        </p:style>
        <p:txBody>
          <a:bodyPr rtlCol="0" anchor="ctr" lIns="177800" rIns="177800" tIns="50800" bIns="50800" wrap="square"/>
          <a:lstStyle/>
          <a:p>
            <a:pPr algn="l">
              <a:lnSpc>
                <a:spcPct val="125000"/>
              </a:lnSpc>
            </a:pPr>
            <a:r>
              <a:rPr sz="1600" b="0" i="0">
                <a:solidFill>
                  <a:srgbClr val="0E1B36"/>
                </a:solidFill>
                <a:latin typeface="Cormorant Garamond"/>
              </a:rPr>
              <a:t>Tech companies don't want to be philanthropists; they want to be participants. The map gives them a participant role in their city's cultural life—and a laboratory for the cultural products they're already building.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777240" y="274320"/>
            <a:ext cx="7315200" cy="320040"/>
          </a:xfrm>
          <a:prstGeom prst="rect">
            <a:avLst/>
          </a:prstGeom>
          <a:noFill/>
        </p:spPr>
        <p:txBody>
          <a:bodyPr wrap="square" lIns="0" rIns="0" tIns="0" bIns="0" anchor="ctr">
            <a:spAutoFit/>
          </a:bodyPr>
          <a:lstStyle/>
          <a:p>
            <a:pPr algn="l"/>
            <a:r>
              <a:rPr sz="1100" b="1" i="0" spc="300">
                <a:solidFill>
                  <a:srgbClr val="0E1B36"/>
                </a:solidFill>
                <a:latin typeface="JetBrains Mono"/>
              </a:rPr>
              <a:t>SAN FRANCISCO · CIVIC ART MAP</a:t>
            </a:r>
          </a:p>
        </p:txBody>
      </p:sp>
      <p:sp>
        <p:nvSpPr>
          <p:cNvPr id="3" name="Rectangle 2"/>
          <p:cNvSpPr/>
          <p:nvPr/>
        </p:nvSpPr>
        <p:spPr>
          <a:xfrm>
            <a:off x="0" y="749808"/>
            <a:ext cx="12191695" cy="9525"/>
          </a:xfrm>
          <a:prstGeom prst="rect">
            <a:avLst/>
          </a:prstGeom>
          <a:solidFill>
            <a:srgbClr val="D6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97280"/>
            <a:ext cx="10637215" cy="1645920"/>
          </a:xfrm>
          <a:prstGeom prst="rect">
            <a:avLst/>
          </a:prstGeom>
          <a:noFill/>
        </p:spPr>
        <p:txBody>
          <a:bodyPr wrap="square" lIns="0" rIns="0" tIns="0" bIns="0" anchor="t">
            <a:spAutoFit/>
          </a:bodyPr>
          <a:lstStyle/>
          <a:p>
            <a:pPr algn="l">
              <a:spcAft>
                <a:spcPts val="1400"/>
              </a:spcAft>
            </a:pPr>
            <a:r>
              <a:rPr sz="1100" b="1" i="0" spc="240">
                <a:solidFill>
                  <a:srgbClr val="1F3D88"/>
                </a:solidFill>
                <a:latin typeface="JetBrains Mono"/>
              </a:rPr>
              <a:t>HOW WE BUILD IT</a:t>
            </a:r>
          </a:p>
          <a:p>
            <a:pPr algn="l">
              <a:spcAft>
                <a:spcPts val="1400"/>
              </a:spcAft>
            </a:pPr>
            <a:r>
              <a:rPr sz="3200" b="0" i="0">
                <a:solidFill>
                  <a:srgbClr val="0E1B36"/>
                </a:solidFill>
                <a:latin typeface="Cormorant Garamond"/>
              </a:rPr>
              <a:t>A three-phase arc, with each phase committing only what the prior phase has earned.</a:t>
            </a:r>
          </a:p>
        </p:txBody>
      </p:sp>
      <p:sp>
        <p:nvSpPr>
          <p:cNvPr id="5" name="TextBox 4"/>
          <p:cNvSpPr txBox="1"/>
          <p:nvPr/>
        </p:nvSpPr>
        <p:spPr>
          <a:xfrm>
            <a:off x="777240" y="3246120"/>
            <a:ext cx="960120" cy="1097280"/>
          </a:xfrm>
          <a:prstGeom prst="rect">
            <a:avLst/>
          </a:prstGeom>
          <a:noFill/>
        </p:spPr>
        <p:txBody>
          <a:bodyPr wrap="square" lIns="0" rIns="0" tIns="0" bIns="0" anchor="t">
            <a:spAutoFit/>
          </a:bodyPr>
          <a:lstStyle/>
          <a:p>
            <a:pPr algn="l"/>
            <a:r>
              <a:rPr sz="4600" b="0" i="0">
                <a:solidFill>
                  <a:srgbClr val="1F3D88"/>
                </a:solidFill>
                <a:latin typeface="Cormorant Garamond"/>
              </a:rPr>
              <a:t>01</a:t>
            </a:r>
          </a:p>
        </p:txBody>
      </p:sp>
      <p:sp>
        <p:nvSpPr>
          <p:cNvPr id="6" name="TextBox 5"/>
          <p:cNvSpPr txBox="1"/>
          <p:nvPr/>
        </p:nvSpPr>
        <p:spPr>
          <a:xfrm>
            <a:off x="2057400" y="3291840"/>
            <a:ext cx="9357055" cy="1097280"/>
          </a:xfrm>
          <a:prstGeom prst="rect">
            <a:avLst/>
          </a:prstGeom>
          <a:noFill/>
        </p:spPr>
        <p:txBody>
          <a:bodyPr wrap="square" lIns="0" rIns="0" tIns="0" bIns="0" anchor="t">
            <a:spAutoFit/>
          </a:bodyPr>
          <a:lstStyle/>
          <a:p>
            <a:pPr algn="l">
              <a:spcAft>
                <a:spcPts val="300"/>
              </a:spcAft>
            </a:pPr>
            <a:r>
              <a:rPr sz="1000" b="1" i="0" spc="240">
                <a:solidFill>
                  <a:srgbClr val="5C6577"/>
                </a:solidFill>
                <a:latin typeface="JetBrains Mono"/>
              </a:rPr>
              <a:t>DISCOVERY · 4–6 WEEKS</a:t>
            </a:r>
          </a:p>
          <a:p>
            <a:pPr algn="l">
              <a:lnSpc>
                <a:spcPct val="118000"/>
              </a:lnSpc>
              <a:spcAft>
                <a:spcPts val="400"/>
              </a:spcAft>
            </a:pPr>
            <a:r>
              <a:rPr sz="2000" b="0" i="0">
                <a:solidFill>
                  <a:srgbClr val="0E1B36"/>
                </a:solidFill>
                <a:latin typeface="Cormorant Garamond"/>
              </a:rPr>
              <a:t>Listen, scope, and lay the foundation.</a:t>
            </a:r>
          </a:p>
          <a:p>
            <a:pPr algn="l">
              <a:lnSpc>
                <a:spcPct val="142000"/>
              </a:lnSpc>
            </a:pPr>
            <a:r>
              <a:rPr sz="1150" b="0" i="0">
                <a:solidFill>
                  <a:srgbClr val="1C2638"/>
                </a:solidFill>
                <a:latin typeface="Inter"/>
              </a:rPr>
              <a:t>A focused engagement that interviews the stakeholders, surveys the peer landscape, identifies the partner-integration vectors, and produces a draft scope-and-plan document for Phase 2. Light-footprint, decisive, designed so anyone reading it can see exactly what they would be funding and why.</a:t>
            </a:r>
          </a:p>
        </p:txBody>
      </p:sp>
      <p:sp>
        <p:nvSpPr>
          <p:cNvPr id="7" name="Rectangle 6"/>
          <p:cNvSpPr/>
          <p:nvPr/>
        </p:nvSpPr>
        <p:spPr>
          <a:xfrm>
            <a:off x="777240" y="4297680"/>
            <a:ext cx="10637215" cy="9525"/>
          </a:xfrm>
          <a:prstGeom prst="rect">
            <a:avLst/>
          </a:prstGeom>
          <a:solidFill>
            <a:srgbClr val="D6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343400"/>
            <a:ext cx="960120" cy="1097280"/>
          </a:xfrm>
          <a:prstGeom prst="rect">
            <a:avLst/>
          </a:prstGeom>
          <a:noFill/>
        </p:spPr>
        <p:txBody>
          <a:bodyPr wrap="square" lIns="0" rIns="0" tIns="0" bIns="0" anchor="t">
            <a:spAutoFit/>
          </a:bodyPr>
          <a:lstStyle/>
          <a:p>
            <a:pPr algn="l"/>
            <a:r>
              <a:rPr sz="4600" b="0" i="0">
                <a:solidFill>
                  <a:srgbClr val="1F3D88"/>
                </a:solidFill>
                <a:latin typeface="Cormorant Garamond"/>
              </a:rPr>
              <a:t>02</a:t>
            </a:r>
          </a:p>
        </p:txBody>
      </p:sp>
      <p:sp>
        <p:nvSpPr>
          <p:cNvPr id="9" name="TextBox 8"/>
          <p:cNvSpPr txBox="1"/>
          <p:nvPr/>
        </p:nvSpPr>
        <p:spPr>
          <a:xfrm>
            <a:off x="2057400" y="4389120"/>
            <a:ext cx="9357055" cy="1097280"/>
          </a:xfrm>
          <a:prstGeom prst="rect">
            <a:avLst/>
          </a:prstGeom>
          <a:noFill/>
        </p:spPr>
        <p:txBody>
          <a:bodyPr wrap="square" lIns="0" rIns="0" tIns="0" bIns="0" anchor="t">
            <a:spAutoFit/>
          </a:bodyPr>
          <a:lstStyle/>
          <a:p>
            <a:pPr algn="l">
              <a:spcAft>
                <a:spcPts val="300"/>
              </a:spcAft>
            </a:pPr>
            <a:r>
              <a:rPr sz="1000" b="1" i="0" spc="240">
                <a:solidFill>
                  <a:srgbClr val="5C6577"/>
                </a:solidFill>
                <a:latin typeface="JetBrains Mono"/>
              </a:rPr>
              <a:t>PROTOTYPE · 8–12 WEEKS</a:t>
            </a:r>
          </a:p>
          <a:p>
            <a:pPr algn="l">
              <a:lnSpc>
                <a:spcPct val="118000"/>
              </a:lnSpc>
              <a:spcAft>
                <a:spcPts val="400"/>
              </a:spcAft>
            </a:pPr>
            <a:r>
              <a:rPr sz="2000" b="0" i="0">
                <a:solidFill>
                  <a:srgbClr val="0E1B36"/>
                </a:solidFill>
                <a:latin typeface="Cormorant Garamond"/>
              </a:rPr>
              <a:t>Vibe-code a working version. Put it in real hands.</a:t>
            </a:r>
          </a:p>
          <a:p>
            <a:pPr algn="l">
              <a:lnSpc>
                <a:spcPct val="142000"/>
              </a:lnSpc>
            </a:pPr>
            <a:r>
              <a:rPr sz="1150" b="0" i="0">
                <a:solidFill>
                  <a:srgbClr val="1C2638"/>
                </a:solidFill>
                <a:latin typeface="Inter"/>
              </a:rPr>
              <a:t>A working web application with a curated subset of the city's institutions, the first version of the interpretation layer, and the first integrations with the most willing tech partners. Tested with real users, iterated weekly. The deliverable is not a deck; it is a thing people use.</a:t>
            </a:r>
          </a:p>
        </p:txBody>
      </p:sp>
      <p:sp>
        <p:nvSpPr>
          <p:cNvPr id="10" name="Rectangle 9"/>
          <p:cNvSpPr/>
          <p:nvPr/>
        </p:nvSpPr>
        <p:spPr>
          <a:xfrm>
            <a:off x="777240" y="5394960"/>
            <a:ext cx="10637215" cy="9525"/>
          </a:xfrm>
          <a:prstGeom prst="rect">
            <a:avLst/>
          </a:prstGeom>
          <a:solidFill>
            <a:srgbClr val="D6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440680"/>
            <a:ext cx="960120" cy="1097280"/>
          </a:xfrm>
          <a:prstGeom prst="rect">
            <a:avLst/>
          </a:prstGeom>
          <a:noFill/>
        </p:spPr>
        <p:txBody>
          <a:bodyPr wrap="square" lIns="0" rIns="0" tIns="0" bIns="0" anchor="t">
            <a:spAutoFit/>
          </a:bodyPr>
          <a:lstStyle/>
          <a:p>
            <a:pPr algn="l"/>
            <a:r>
              <a:rPr sz="4600" b="0" i="0">
                <a:solidFill>
                  <a:srgbClr val="1F3D88"/>
                </a:solidFill>
                <a:latin typeface="Cormorant Garamond"/>
              </a:rPr>
              <a:t>03</a:t>
            </a:r>
          </a:p>
        </p:txBody>
      </p:sp>
      <p:sp>
        <p:nvSpPr>
          <p:cNvPr id="12" name="TextBox 11"/>
          <p:cNvSpPr txBox="1"/>
          <p:nvPr/>
        </p:nvSpPr>
        <p:spPr>
          <a:xfrm>
            <a:off x="2057400" y="5486400"/>
            <a:ext cx="9357055" cy="1097280"/>
          </a:xfrm>
          <a:prstGeom prst="rect">
            <a:avLst/>
          </a:prstGeom>
          <a:noFill/>
        </p:spPr>
        <p:txBody>
          <a:bodyPr wrap="square" lIns="0" rIns="0" tIns="0" bIns="0" anchor="t">
            <a:spAutoFit/>
          </a:bodyPr>
          <a:lstStyle/>
          <a:p>
            <a:pPr algn="l">
              <a:spcAft>
                <a:spcPts val="300"/>
              </a:spcAft>
            </a:pPr>
            <a:r>
              <a:rPr sz="1000" b="1" i="0" spc="240">
                <a:solidFill>
                  <a:srgbClr val="5C6577"/>
                </a:solidFill>
                <a:latin typeface="JetBrains Mono"/>
              </a:rPr>
              <a:t>LAUNCH + STEWARD · OPEN STRUCTURE</a:t>
            </a:r>
          </a:p>
          <a:p>
            <a:pPr algn="l">
              <a:lnSpc>
                <a:spcPct val="118000"/>
              </a:lnSpc>
              <a:spcAft>
                <a:spcPts val="400"/>
              </a:spcAft>
            </a:pPr>
            <a:r>
              <a:rPr sz="2000" b="0" i="0">
                <a:solidFill>
                  <a:srgbClr val="0E1B36"/>
                </a:solidFill>
                <a:latin typeface="Cormorant Garamond"/>
              </a:rPr>
              <a:t>Ship the public utility. Make it last.</a:t>
            </a:r>
          </a:p>
          <a:p>
            <a:pPr algn="l">
              <a:lnSpc>
                <a:spcPct val="142000"/>
              </a:lnSpc>
            </a:pPr>
            <a:r>
              <a:rPr sz="1150" b="0" i="0">
                <a:solidFill>
                  <a:srgbClr val="1C2638"/>
                </a:solidFill>
                <a:latin typeface="Inter"/>
              </a:rPr>
              <a:t>The full civic launch—operating structure, sustaining model, governance, and the team to run it. The shape of Phase 3 is what Phases 1 and 2 are designed to figure out.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DF1F8"/>
        </a:solidFill>
        <a:effectLst/>
      </p:bgPr>
    </p:bg>
    <p:spTree>
      <p:nvGrpSpPr>
        <p:cNvPr id="1" name=""/>
        <p:cNvGrpSpPr/>
        <p:nvPr/>
      </p:nvGrpSpPr>
      <p:grpSpPr/>
      <p:sp>
        <p:nvSpPr>
          <p:cNvPr id="2" name="TextBox 1"/>
          <p:cNvSpPr txBox="1"/>
          <p:nvPr/>
        </p:nvSpPr>
        <p:spPr>
          <a:xfrm>
            <a:off x="777240" y="274320"/>
            <a:ext cx="7315200" cy="320040"/>
          </a:xfrm>
          <a:prstGeom prst="rect">
            <a:avLst/>
          </a:prstGeom>
          <a:noFill/>
        </p:spPr>
        <p:txBody>
          <a:bodyPr wrap="square" lIns="0" rIns="0" tIns="0" bIns="0" anchor="ctr">
            <a:spAutoFit/>
          </a:bodyPr>
          <a:lstStyle/>
          <a:p>
            <a:pPr algn="l"/>
            <a:r>
              <a:rPr sz="1100" b="1" i="0" spc="300">
                <a:solidFill>
                  <a:srgbClr val="0E1B36"/>
                </a:solidFill>
                <a:latin typeface="JetBrains Mono"/>
              </a:rPr>
              <a:t>SAN FRANCISCO · CIVIC ART MAP</a:t>
            </a:r>
          </a:p>
        </p:txBody>
      </p:sp>
      <p:sp>
        <p:nvSpPr>
          <p:cNvPr id="3" name="Rectangle 2"/>
          <p:cNvSpPr/>
          <p:nvPr/>
        </p:nvSpPr>
        <p:spPr>
          <a:xfrm>
            <a:off x="0" y="749808"/>
            <a:ext cx="12191695" cy="9525"/>
          </a:xfrm>
          <a:prstGeom prst="rect">
            <a:avLst/>
          </a:prstGeom>
          <a:solidFill>
            <a:srgbClr val="D6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97280"/>
            <a:ext cx="10637215" cy="2286000"/>
          </a:xfrm>
          <a:prstGeom prst="rect">
            <a:avLst/>
          </a:prstGeom>
          <a:noFill/>
        </p:spPr>
        <p:txBody>
          <a:bodyPr wrap="square" lIns="0" rIns="0" tIns="0" bIns="0" anchor="t">
            <a:spAutoFit/>
          </a:bodyPr>
          <a:lstStyle/>
          <a:p>
            <a:pPr algn="l">
              <a:spcAft>
                <a:spcPts val="1400"/>
              </a:spcAft>
            </a:pPr>
            <a:r>
              <a:rPr sz="1100" b="1" i="0" spc="240">
                <a:solidFill>
                  <a:srgbClr val="1F3D88"/>
                </a:solidFill>
                <a:latin typeface="JetBrains Mono"/>
              </a:rPr>
              <a:t>PHASE 1 · THE ASK</a:t>
            </a:r>
          </a:p>
          <a:p>
            <a:pPr algn="l">
              <a:spcAft>
                <a:spcPts val="1400"/>
              </a:spcAft>
            </a:pPr>
            <a:r>
              <a:rPr sz="3200" b="0" i="0">
                <a:solidFill>
                  <a:srgbClr val="0E1B36"/>
                </a:solidFill>
                <a:latin typeface="Cormorant Garamond"/>
              </a:rPr>
              <a:t>A focused discovery sprint—enough to know exactly what we're building and what it will take.</a:t>
            </a:r>
          </a:p>
          <a:p>
            <a:pPr algn="l">
              <a:lnSpc>
                <a:spcPct val="142000"/>
              </a:lnSpc>
              <a:spcBef>
                <a:spcPts val="400"/>
              </a:spcBef>
            </a:pPr>
            <a:r>
              <a:rPr sz="1300" b="0" i="0">
                <a:solidFill>
                  <a:srgbClr val="1C2638"/>
                </a:solidFill>
                <a:latin typeface="Inter"/>
              </a:rPr>
              <a:t>Phase 1 is option-pricing. The proposal is to fund a structured 4–6 week discovery sprint that convenes the right stakeholders, surfaces what the city actually needs, and produces a draft scope and Phase 2 proposal you can react to with full information.</a:t>
            </a:r>
          </a:p>
        </p:txBody>
      </p:sp>
      <p:sp>
        <p:nvSpPr>
          <p:cNvPr id="5" name="Rectangle 4"/>
          <p:cNvSpPr/>
          <p:nvPr/>
        </p:nvSpPr>
        <p:spPr>
          <a:xfrm>
            <a:off x="777240" y="3520440"/>
            <a:ext cx="10637215" cy="3012694"/>
          </a:xfrm>
          <a:prstGeom prst="rect">
            <a:avLst/>
          </a:prstGeom>
          <a:solidFill>
            <a:srgbClr val="FBF8F2"/>
          </a:solidFill>
          <a:ln w="9525">
            <a:solidFill>
              <a:srgbClr val="D6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1832" y="3685032"/>
            <a:ext cx="1828800" cy="1005840"/>
          </a:xfrm>
          <a:prstGeom prst="rect">
            <a:avLst/>
          </a:prstGeom>
          <a:noFill/>
        </p:spPr>
        <p:txBody>
          <a:bodyPr wrap="square" lIns="0" rIns="0" tIns="0" bIns="0" anchor="t">
            <a:spAutoFit/>
          </a:bodyPr>
          <a:lstStyle/>
          <a:p>
            <a:pPr algn="l"/>
            <a:r>
              <a:rPr sz="900" b="1" i="0" spc="200">
                <a:solidFill>
                  <a:srgbClr val="1F3D88"/>
                </a:solidFill>
                <a:latin typeface="JetBrains Mono"/>
              </a:rPr>
              <a:t>SCOPE</a:t>
            </a:r>
          </a:p>
        </p:txBody>
      </p:sp>
      <p:sp>
        <p:nvSpPr>
          <p:cNvPr id="7" name="TextBox 6"/>
          <p:cNvSpPr txBox="1"/>
          <p:nvPr/>
        </p:nvSpPr>
        <p:spPr>
          <a:xfrm>
            <a:off x="2999232" y="3685032"/>
            <a:ext cx="8250631" cy="1005840"/>
          </a:xfrm>
          <a:prstGeom prst="rect">
            <a:avLst/>
          </a:prstGeom>
          <a:noFill/>
        </p:spPr>
        <p:txBody>
          <a:bodyPr wrap="square" lIns="0" rIns="0" tIns="0" bIns="0" anchor="t">
            <a:spAutoFit/>
          </a:bodyPr>
          <a:lstStyle/>
          <a:p>
            <a:pPr algn="l">
              <a:spcAft>
                <a:spcPts val="200"/>
              </a:spcAft>
            </a:pPr>
            <a:r>
              <a:rPr sz="1000" b="1" i="0">
                <a:solidFill>
                  <a:srgbClr val="1F3D88"/>
                </a:solidFill>
                <a:latin typeface="Inter"/>
              </a:rPr>
              <a:t>•  </a:t>
            </a:r>
            <a:r>
              <a:rPr sz="1000" b="0" i="0">
                <a:solidFill>
                  <a:srgbClr val="1C2638"/>
                </a:solidFill>
                <a:latin typeface="Inter"/>
              </a:rPr>
              <a:t>20–30 stakeholder interviews across institutions, galleries, artists, civic, tech</a:t>
            </a:r>
          </a:p>
          <a:p>
            <a:pPr algn="l">
              <a:spcAft>
                <a:spcPts val="200"/>
              </a:spcAft>
            </a:pPr>
            <a:r>
              <a:rPr sz="1000" b="1" i="0">
                <a:solidFill>
                  <a:srgbClr val="1F3D88"/>
                </a:solidFill>
                <a:latin typeface="Inter"/>
              </a:rPr>
              <a:t>•  </a:t>
            </a:r>
            <a:r>
              <a:rPr sz="1000" b="0" i="0">
                <a:solidFill>
                  <a:srgbClr val="1C2638"/>
                </a:solidFill>
                <a:latin typeface="Inter"/>
              </a:rPr>
              <a:t>Peer landscape and best-practice synthesis</a:t>
            </a:r>
          </a:p>
          <a:p>
            <a:pPr algn="l">
              <a:spcAft>
                <a:spcPts val="200"/>
              </a:spcAft>
            </a:pPr>
            <a:r>
              <a:rPr sz="1000" b="1" i="0">
                <a:solidFill>
                  <a:srgbClr val="1F3D88"/>
                </a:solidFill>
                <a:latin typeface="Inter"/>
              </a:rPr>
              <a:t>•  </a:t>
            </a:r>
            <a:r>
              <a:rPr sz="1000" b="0" i="0">
                <a:solidFill>
                  <a:srgbClr val="1C2638"/>
                </a:solidFill>
                <a:latin typeface="Inter"/>
              </a:rPr>
              <a:t>Product scope for the Phase 2 prototype</a:t>
            </a:r>
          </a:p>
          <a:p>
            <a:pPr algn="l">
              <a:spcAft>
                <a:spcPts val="200"/>
              </a:spcAft>
            </a:pPr>
            <a:r>
              <a:rPr sz="1000" b="1" i="0">
                <a:solidFill>
                  <a:srgbClr val="1F3D88"/>
                </a:solidFill>
                <a:latin typeface="Inter"/>
              </a:rPr>
              <a:t>•  </a:t>
            </a:r>
            <a:r>
              <a:rPr sz="1000" b="0" i="0">
                <a:solidFill>
                  <a:srgbClr val="1C2638"/>
                </a:solidFill>
                <a:latin typeface="Inter"/>
              </a:rPr>
              <a:t>Partnership architecture and sequence</a:t>
            </a:r>
          </a:p>
          <a:p>
            <a:pPr algn="l">
              <a:spcAft>
                <a:spcPts val="200"/>
              </a:spcAft>
            </a:pPr>
            <a:r>
              <a:rPr sz="1000" b="1" i="0">
                <a:solidFill>
                  <a:srgbClr val="1F3D88"/>
                </a:solidFill>
                <a:latin typeface="Inter"/>
              </a:rPr>
              <a:t>•  </a:t>
            </a:r>
            <a:r>
              <a:rPr sz="1000" b="0" i="0">
                <a:solidFill>
                  <a:srgbClr val="1C2638"/>
                </a:solidFill>
                <a:latin typeface="Inter"/>
              </a:rPr>
              <a:t>Governance and sustaining-model options</a:t>
            </a:r>
          </a:p>
          <a:p>
            <a:pPr algn="l">
              <a:spcAft>
                <a:spcPts val="200"/>
              </a:spcAft>
            </a:pPr>
            <a:r>
              <a:rPr sz="1000" b="1" i="0">
                <a:solidFill>
                  <a:srgbClr val="1F3D88"/>
                </a:solidFill>
                <a:latin typeface="Inter"/>
              </a:rPr>
              <a:t>•  </a:t>
            </a:r>
            <a:r>
              <a:rPr sz="1000" b="0" i="0">
                <a:solidFill>
                  <a:srgbClr val="1C2638"/>
                </a:solidFill>
                <a:latin typeface="Inter"/>
              </a:rPr>
              <a:t>Phase 2 proposal with timeline, team, budget</a:t>
            </a:r>
          </a:p>
        </p:txBody>
      </p:sp>
      <p:sp>
        <p:nvSpPr>
          <p:cNvPr id="8" name="Rectangle 7"/>
          <p:cNvSpPr/>
          <p:nvPr/>
        </p:nvSpPr>
        <p:spPr>
          <a:xfrm>
            <a:off x="941832" y="4690872"/>
            <a:ext cx="10308031" cy="6350"/>
          </a:xfrm>
          <a:prstGeom prst="rect">
            <a:avLst/>
          </a:prstGeom>
          <a:solidFill>
            <a:srgbClr val="D6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4697222"/>
            <a:ext cx="1828800" cy="274320"/>
          </a:xfrm>
          <a:prstGeom prst="rect">
            <a:avLst/>
          </a:prstGeom>
          <a:noFill/>
        </p:spPr>
        <p:txBody>
          <a:bodyPr wrap="square" lIns="0" rIns="0" tIns="0" bIns="0" anchor="t">
            <a:spAutoFit/>
          </a:bodyPr>
          <a:lstStyle/>
          <a:p>
            <a:pPr algn="l"/>
            <a:r>
              <a:rPr sz="900" b="1" i="0" spc="200">
                <a:solidFill>
                  <a:srgbClr val="1F3D88"/>
                </a:solidFill>
                <a:latin typeface="JetBrains Mono"/>
              </a:rPr>
              <a:t>TIMELINE</a:t>
            </a:r>
          </a:p>
        </p:txBody>
      </p:sp>
      <p:sp>
        <p:nvSpPr>
          <p:cNvPr id="10" name="TextBox 9"/>
          <p:cNvSpPr txBox="1"/>
          <p:nvPr/>
        </p:nvSpPr>
        <p:spPr>
          <a:xfrm>
            <a:off x="2999232" y="4697222"/>
            <a:ext cx="8250631" cy="274320"/>
          </a:xfrm>
          <a:prstGeom prst="rect">
            <a:avLst/>
          </a:prstGeom>
          <a:noFill/>
        </p:spPr>
        <p:txBody>
          <a:bodyPr wrap="square" lIns="0" rIns="0" tIns="0" bIns="0" anchor="t">
            <a:spAutoFit/>
          </a:bodyPr>
          <a:lstStyle/>
          <a:p>
            <a:pPr algn="l"/>
            <a:r>
              <a:rPr sz="1050" b="0" i="0">
                <a:solidFill>
                  <a:srgbClr val="1C2638"/>
                </a:solidFill>
                <a:latin typeface="Inter"/>
              </a:rPr>
              <a:t>Four to six weeks from kickoff to delivered document.</a:t>
            </a:r>
          </a:p>
        </p:txBody>
      </p:sp>
      <p:sp>
        <p:nvSpPr>
          <p:cNvPr id="11" name="Rectangle 10"/>
          <p:cNvSpPr/>
          <p:nvPr/>
        </p:nvSpPr>
        <p:spPr>
          <a:xfrm>
            <a:off x="941832" y="4971542"/>
            <a:ext cx="10308031" cy="6350"/>
          </a:xfrm>
          <a:prstGeom prst="rect">
            <a:avLst/>
          </a:prstGeom>
          <a:solidFill>
            <a:srgbClr val="D6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4977892"/>
            <a:ext cx="1828800" cy="274320"/>
          </a:xfrm>
          <a:prstGeom prst="rect">
            <a:avLst/>
          </a:prstGeom>
          <a:noFill/>
        </p:spPr>
        <p:txBody>
          <a:bodyPr wrap="square" lIns="0" rIns="0" tIns="0" bIns="0" anchor="t">
            <a:spAutoFit/>
          </a:bodyPr>
          <a:lstStyle/>
          <a:p>
            <a:pPr algn="l"/>
            <a:r>
              <a:rPr sz="900" b="1" i="0" spc="200">
                <a:solidFill>
                  <a:srgbClr val="1F3D88"/>
                </a:solidFill>
                <a:latin typeface="JetBrains Mono"/>
              </a:rPr>
              <a:t>FEE</a:t>
            </a:r>
          </a:p>
        </p:txBody>
      </p:sp>
      <p:sp>
        <p:nvSpPr>
          <p:cNvPr id="13" name="TextBox 12"/>
          <p:cNvSpPr txBox="1"/>
          <p:nvPr/>
        </p:nvSpPr>
        <p:spPr>
          <a:xfrm>
            <a:off x="2999232" y="4977892"/>
            <a:ext cx="8250631" cy="274320"/>
          </a:xfrm>
          <a:prstGeom prst="rect">
            <a:avLst/>
          </a:prstGeom>
          <a:noFill/>
        </p:spPr>
        <p:txBody>
          <a:bodyPr wrap="square" lIns="0" rIns="0" tIns="0" bIns="0" anchor="t">
            <a:spAutoFit/>
          </a:bodyPr>
          <a:lstStyle/>
          <a:p>
            <a:pPr algn="l"/>
            <a:r>
              <a:rPr sz="1050" b="0" i="0">
                <a:solidFill>
                  <a:srgbClr val="1C2638"/>
                </a:solidFill>
                <a:latin typeface="Inter"/>
              </a:rPr>
              <a:t>$75,000 fixed, plus travel and expenses.</a:t>
            </a:r>
          </a:p>
        </p:txBody>
      </p:sp>
      <p:sp>
        <p:nvSpPr>
          <p:cNvPr id="14" name="Rectangle 13"/>
          <p:cNvSpPr/>
          <p:nvPr/>
        </p:nvSpPr>
        <p:spPr>
          <a:xfrm>
            <a:off x="941832" y="5252212"/>
            <a:ext cx="10308031" cy="6350"/>
          </a:xfrm>
          <a:prstGeom prst="rect">
            <a:avLst/>
          </a:prstGeom>
          <a:solidFill>
            <a:srgbClr val="D6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5258562"/>
            <a:ext cx="1828800" cy="274320"/>
          </a:xfrm>
          <a:prstGeom prst="rect">
            <a:avLst/>
          </a:prstGeom>
          <a:noFill/>
        </p:spPr>
        <p:txBody>
          <a:bodyPr wrap="square" lIns="0" rIns="0" tIns="0" bIns="0" anchor="t">
            <a:spAutoFit/>
          </a:bodyPr>
          <a:lstStyle/>
          <a:p>
            <a:pPr algn="l"/>
            <a:r>
              <a:rPr sz="900" b="1" i="0" spc="200">
                <a:solidFill>
                  <a:srgbClr val="1F3D88"/>
                </a:solidFill>
                <a:latin typeface="JetBrains Mono"/>
              </a:rPr>
              <a:t>PAYMENT</a:t>
            </a:r>
          </a:p>
        </p:txBody>
      </p:sp>
      <p:sp>
        <p:nvSpPr>
          <p:cNvPr id="16" name="TextBox 15"/>
          <p:cNvSpPr txBox="1"/>
          <p:nvPr/>
        </p:nvSpPr>
        <p:spPr>
          <a:xfrm>
            <a:off x="2999232" y="5258562"/>
            <a:ext cx="8250631" cy="274320"/>
          </a:xfrm>
          <a:prstGeom prst="rect">
            <a:avLst/>
          </a:prstGeom>
          <a:noFill/>
        </p:spPr>
        <p:txBody>
          <a:bodyPr wrap="square" lIns="0" rIns="0" tIns="0" bIns="0" anchor="t">
            <a:spAutoFit/>
          </a:bodyPr>
          <a:lstStyle/>
          <a:p>
            <a:pPr algn="l"/>
            <a:r>
              <a:rPr sz="1050" b="0" i="0">
                <a:solidFill>
                  <a:srgbClr val="1C2638"/>
                </a:solidFill>
                <a:latin typeface="Inter"/>
              </a:rPr>
              <a:t>Half upon commencement, half upon completion.</a:t>
            </a:r>
          </a:p>
        </p:txBody>
      </p:sp>
      <p:sp>
        <p:nvSpPr>
          <p:cNvPr id="17" name="Rectangle 16"/>
          <p:cNvSpPr/>
          <p:nvPr/>
        </p:nvSpPr>
        <p:spPr>
          <a:xfrm>
            <a:off x="941832" y="5532882"/>
            <a:ext cx="10308031" cy="6350"/>
          </a:xfrm>
          <a:prstGeom prst="rect">
            <a:avLst/>
          </a:prstGeom>
          <a:solidFill>
            <a:srgbClr val="D6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 y="5539232"/>
            <a:ext cx="1828800" cy="365760"/>
          </a:xfrm>
          <a:prstGeom prst="rect">
            <a:avLst/>
          </a:prstGeom>
          <a:noFill/>
        </p:spPr>
        <p:txBody>
          <a:bodyPr wrap="square" lIns="0" rIns="0" tIns="0" bIns="0" anchor="t">
            <a:spAutoFit/>
          </a:bodyPr>
          <a:lstStyle/>
          <a:p>
            <a:pPr algn="l"/>
            <a:r>
              <a:rPr sz="900" b="1" i="0" spc="200">
                <a:solidFill>
                  <a:srgbClr val="1F3D88"/>
                </a:solidFill>
                <a:latin typeface="JetBrains Mono"/>
              </a:rPr>
              <a:t>WHAT YOU PROVIDE</a:t>
            </a:r>
          </a:p>
        </p:txBody>
      </p:sp>
      <p:sp>
        <p:nvSpPr>
          <p:cNvPr id="19" name="TextBox 18"/>
          <p:cNvSpPr txBox="1"/>
          <p:nvPr/>
        </p:nvSpPr>
        <p:spPr>
          <a:xfrm>
            <a:off x="2999232" y="5539232"/>
            <a:ext cx="8250631" cy="365760"/>
          </a:xfrm>
          <a:prstGeom prst="rect">
            <a:avLst/>
          </a:prstGeom>
          <a:noFill/>
        </p:spPr>
        <p:txBody>
          <a:bodyPr wrap="square" lIns="0" rIns="0" tIns="0" bIns="0" anchor="t">
            <a:spAutoFit/>
          </a:bodyPr>
          <a:lstStyle/>
          <a:p>
            <a:pPr algn="l"/>
            <a:r>
              <a:rPr sz="1050" b="0" i="0">
                <a:solidFill>
                  <a:srgbClr val="1C2638"/>
                </a:solidFill>
                <a:latin typeface="Inter"/>
              </a:rPr>
              <a:t>Vision alignment, input, and ideas; funding; introductions to art and tech stakeholders.</a:t>
            </a:r>
          </a:p>
        </p:txBody>
      </p:sp>
      <p:sp>
        <p:nvSpPr>
          <p:cNvPr id="20" name="Rectangle 19"/>
          <p:cNvSpPr/>
          <p:nvPr/>
        </p:nvSpPr>
        <p:spPr>
          <a:xfrm>
            <a:off x="941832" y="5904992"/>
            <a:ext cx="10308031" cy="6350"/>
          </a:xfrm>
          <a:prstGeom prst="rect">
            <a:avLst/>
          </a:prstGeom>
          <a:solidFill>
            <a:srgbClr val="D6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5911342"/>
            <a:ext cx="1828800" cy="457200"/>
          </a:xfrm>
          <a:prstGeom prst="rect">
            <a:avLst/>
          </a:prstGeom>
          <a:noFill/>
        </p:spPr>
        <p:txBody>
          <a:bodyPr wrap="square" lIns="0" rIns="0" tIns="0" bIns="0" anchor="t">
            <a:spAutoFit/>
          </a:bodyPr>
          <a:lstStyle/>
          <a:p>
            <a:pPr algn="l"/>
            <a:r>
              <a:rPr sz="900" b="1" i="0" spc="200">
                <a:solidFill>
                  <a:srgbClr val="1F3D88"/>
                </a:solidFill>
                <a:latin typeface="JetBrains Mono"/>
              </a:rPr>
              <a:t>WHAT HAPPENS AT THE END</a:t>
            </a:r>
          </a:p>
        </p:txBody>
      </p:sp>
      <p:sp>
        <p:nvSpPr>
          <p:cNvPr id="22" name="TextBox 21"/>
          <p:cNvSpPr txBox="1"/>
          <p:nvPr/>
        </p:nvSpPr>
        <p:spPr>
          <a:xfrm>
            <a:off x="2999232" y="5911342"/>
            <a:ext cx="8250631" cy="457200"/>
          </a:xfrm>
          <a:prstGeom prst="rect">
            <a:avLst/>
          </a:prstGeom>
          <a:noFill/>
        </p:spPr>
        <p:txBody>
          <a:bodyPr wrap="square" lIns="0" rIns="0" tIns="0" bIns="0" anchor="t">
            <a:spAutoFit/>
          </a:bodyPr>
          <a:lstStyle/>
          <a:p>
            <a:pPr algn="l"/>
            <a:r>
              <a:rPr sz="1050" b="0" i="0">
                <a:solidFill>
                  <a:srgbClr val="1C2638"/>
                </a:solidFill>
                <a:latin typeface="Inter"/>
              </a:rPr>
              <a:t>You have a document you can read, react to, and decide on without commitment. If Phase 2 is the right move, we proceed.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4ECF7"/>
        </a:solidFill>
        <a:effectLst/>
      </p:bgPr>
    </p:bg>
    <p:spTree>
      <p:nvGrpSpPr>
        <p:cNvPr id="1" name=""/>
        <p:cNvGrpSpPr/>
        <p:nvPr/>
      </p:nvGrpSpPr>
      <p:grpSpPr/>
      <p:sp>
        <p:nvSpPr>
          <p:cNvPr id="2" name="TextBox 1"/>
          <p:cNvSpPr txBox="1"/>
          <p:nvPr/>
        </p:nvSpPr>
        <p:spPr>
          <a:xfrm>
            <a:off x="777240" y="274320"/>
            <a:ext cx="7315200" cy="320040"/>
          </a:xfrm>
          <a:prstGeom prst="rect">
            <a:avLst/>
          </a:prstGeom>
          <a:noFill/>
        </p:spPr>
        <p:txBody>
          <a:bodyPr wrap="square" lIns="0" rIns="0" tIns="0" bIns="0" anchor="ctr">
            <a:spAutoFit/>
          </a:bodyPr>
          <a:lstStyle/>
          <a:p>
            <a:pPr algn="l"/>
            <a:r>
              <a:rPr sz="1100" b="1" i="0" spc="300">
                <a:solidFill>
                  <a:srgbClr val="0E1B36"/>
                </a:solidFill>
                <a:latin typeface="JetBrains Mono"/>
              </a:rPr>
              <a:t>SAN FRANCISCO · CIVIC ART MAP</a:t>
            </a:r>
          </a:p>
        </p:txBody>
      </p:sp>
      <p:sp>
        <p:nvSpPr>
          <p:cNvPr id="3" name="Rectangle 2"/>
          <p:cNvSpPr/>
          <p:nvPr/>
        </p:nvSpPr>
        <p:spPr>
          <a:xfrm>
            <a:off x="0" y="749808"/>
            <a:ext cx="12191695" cy="9525"/>
          </a:xfrm>
          <a:prstGeom prst="rect">
            <a:avLst/>
          </a:prstGeom>
          <a:solidFill>
            <a:srgbClr val="D6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23847" y="1828800"/>
            <a:ext cx="9144000" cy="3200400"/>
          </a:xfrm>
          <a:prstGeom prst="rect">
            <a:avLst/>
          </a:prstGeom>
          <a:noFill/>
        </p:spPr>
        <p:txBody>
          <a:bodyPr wrap="square" lIns="0" rIns="0" tIns="0" bIns="0" anchor="ctr">
            <a:spAutoFit/>
          </a:bodyPr>
          <a:lstStyle/>
          <a:p>
            <a:pPr algn="ctr"/>
            <a:r>
              <a:rPr sz="9600" b="0" i="0">
                <a:solidFill>
                  <a:srgbClr val="0E1B36"/>
                </a:solidFill>
                <a:latin typeface="Cormorant Garamon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